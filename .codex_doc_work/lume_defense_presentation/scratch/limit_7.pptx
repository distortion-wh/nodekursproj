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0:00-0:30.
Уважаемые члены комиссии, тема моего дипломного проекта - разработка веб-приложения Lume для видеозвонков и обмена сообщениями. В докладе я кратко покажу актуальность задачи, архитектуру, основные функции, результаты тестирования и экономическое обоснование проекта.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0:30-1:10.
Актуальность проекта связана с тем, что пользователям нужна единая среда для коммуникации: не только сообщения, но и файлы, звонки, управление доступом и модерация. Целью работы стала разработка веб-приложения Lume, которое объединяет эти сценарии в браузере и может применяться индивидуальными пользователями, учебными группами и небольшими командами.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1:10-1:45.
Для достижения цели были поставлены шесть задач. Сначала я изучил существующие решения, затем спроектировал требования, архитектуру, базу данных и интерфейс. После этого были реализованы клиентская и серверная части, выполнено тестирование, подготовлено руководство пользователя и рассчитаны экономические показатели.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1:45-2:25.
В аналитическом разделе были рассмотрены Zoom, Discord и Google Meet. Zoom силен в видеоконференциях, но не закрывает постоянные чаты и социальную модель. Discord лучше подходит для сообществ, но сложен и остается внешней платформой. Google Meet удобен для встреч, но не решает задачу постоянного обмена сообщениями. Поэтому Lume строился как объединение сообщений, звонков, друзей, ролей и модерации в одном веб-приложении.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2:25-3:05.
Функционально приложение закрывает основные сценарии коммуникации. Пользователь может зарегистрироваться, подтвердить email, настроить профиль, добавить друзей, вести личные и групповые чаты. В сообщениях реализованы ответы, пересылка, реакции, стикеры, файлы, опросы и отложенная отправка. Для контроля порядка предусмотрены роли внутри чатов, жалобы, предупреждения, блокировки, журналы событий и административная панель.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3:05-3:55.
Архитектура разделена на клиентскую часть, серверный API, базу данных, объектное хранилище и сервисы реального времени. Клиент написан на React и TypeScript. Серверная часть использует Node.js и Express, а внутри разделена на маршруты, контроллеры и сервисы. PostgreSQL хранит основные данные, MinIO вынесен для медиафайлов. Socket.IO отвечает за события чатов, WebRTC и mediasoup - за звонки. Для развертывания подготовлены Docker, Docker Compose и Nginx.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3:55-4:35.
База данных включает 22 таблицы, объединенные внешними ключами. Их можно разделить на четыре группы: основные таблицы пользователей, ролей, чатов и друзей; таблицы коммуникации; таблицы модерации; служебные таблицы для кодов подтверждения и журналов. Безопасность обеспечивается JWT-токенами, хешированием паролей через bcryptjs, проверкой ролей по актуальным данным базы, email-подтверждением и валидацией входных данных.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БГТУ | дипломный проект |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658368" y="987552"/>
            <a:ext cx="219456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98448"/>
            <a:ext cx="9966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веб-приложения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«Lume» для видеозвонков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обмена сообщениями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694944" y="3895344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TypeScript / Node.js + Express / PostgreSQL / Socket.IO / WebRTC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94944" y="5486400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Студент: Шатерник Глеб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 доклада: 8 минут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738360" y="533095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549640" y="5870448"/>
            <a:ext cx="2880360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Актуальность и цель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решает задачу единой управляемой среды цифрового общения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13232" y="188366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это важно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49808" y="265176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цифровая коммуникация требует переписки, звонков и обмена файлами в одном окне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331012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сторонние платформы ограничивают контроль над данными, ролями и правилами доступа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49808" y="3968496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для учебных групп, команд и сообществ важны простота, безопасность и управляемость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37960" y="1828800"/>
            <a:ext cx="0" cy="347472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03720" y="190195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РАЗРАБОТКИ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903720" y="2221992"/>
            <a:ext cx="4434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Разработать веб-приложение «Lume» для личного и группового общения пользователей с поддержкой сообщений, файлов, голосовых и видеозвонков, системы друзей, персонализации профиля, модерации и администрирования.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912864" y="4434840"/>
            <a:ext cx="932688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0160">
            <a:solidFill>
              <a:srgbClr val="CFCF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45445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сообщения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8010144" y="4434840"/>
            <a:ext cx="932688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0160">
            <a:solidFill>
              <a:srgbClr val="CFCF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45445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файлы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9107424" y="4434840"/>
            <a:ext cx="932688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0160">
            <a:solidFill>
              <a:srgbClr val="CFCF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45445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звонки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10204704" y="4434840"/>
            <a:ext cx="932688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0160">
            <a:solidFill>
              <a:srgbClr val="CFCF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0" y="45445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модерация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 дипломного проекта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охватила полный цикл: от анализа аналогов до экономического обоснования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49808" y="178308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234440" y="1947672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74520" y="176479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Проанализировать аналоги: Zoom, Discord, Google Meet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9808" y="244144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234440" y="2606040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242316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Сформировать требования и спроектировать архитектуру приложения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9808" y="309981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234440" y="3264408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308152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Разработать структуру базы данных и пользовательский интерфейс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49808" y="3758184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234440" y="3922776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74520" y="3739896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Реализовать клиентскую и серверную части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49808" y="441655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234440" y="4581144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74520" y="4398264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Проверить работоспособность ключевых функций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49808" y="507492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1234440" y="5239512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74520" y="505663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Подготовить руководство пользователя и экономический расчет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аналогов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сравнения выделены функции, которые должны быть объединены в Lume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810512"/>
            <a:ext cx="10789920" cy="2148840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D0D0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810512"/>
            <a:ext cx="10789920" cy="53721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874520"/>
            <a:ext cx="127101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Аналог</a:t>
            </a:r>
            <a:endParaRPr lang="en-US" sz="1140" dirty="0"/>
          </a:p>
        </p:txBody>
      </p:sp>
      <p:sp>
        <p:nvSpPr>
          <p:cNvPr id="8" name="Shape 6"/>
          <p:cNvSpPr/>
          <p:nvPr/>
        </p:nvSpPr>
        <p:spPr>
          <a:xfrm>
            <a:off x="21305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03704" y="1874520"/>
            <a:ext cx="35112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Сильная сторона</a:t>
            </a:r>
            <a:endParaRPr lang="en-US" sz="1140" dirty="0"/>
          </a:p>
        </p:txBody>
      </p:sp>
      <p:sp>
        <p:nvSpPr>
          <p:cNvPr id="10" name="Shape 8"/>
          <p:cNvSpPr/>
          <p:nvPr/>
        </p:nvSpPr>
        <p:spPr>
          <a:xfrm>
            <a:off x="57881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61304" y="1874520"/>
            <a:ext cx="55686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Ограничение для проекта</a:t>
            </a:r>
            <a:endParaRPr lang="en-US" sz="1140" dirty="0"/>
          </a:p>
        </p:txBody>
      </p:sp>
      <p:sp>
        <p:nvSpPr>
          <p:cNvPr id="12" name="Shape 10"/>
          <p:cNvSpPr/>
          <p:nvPr/>
        </p:nvSpPr>
        <p:spPr>
          <a:xfrm>
            <a:off x="713232" y="2347722"/>
            <a:ext cx="10789920" cy="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2411730"/>
            <a:ext cx="127101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21305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03704" y="2411730"/>
            <a:ext cx="35112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стабильные видеоконференции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7881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61304" y="2411730"/>
            <a:ext cx="55686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постоянного контекста чатов и системы друзей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713232" y="2884932"/>
            <a:ext cx="10789920" cy="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2948940"/>
            <a:ext cx="127101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Discord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21305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2948940"/>
            <a:ext cx="35112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сообщества, каналы, голосовая связь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57881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61304" y="2948940"/>
            <a:ext cx="55686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избыточная сложность и зависимость от внешней платформы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713232" y="3422142"/>
            <a:ext cx="10789920" cy="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" y="3486150"/>
            <a:ext cx="127101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Meet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21305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03704" y="3486150"/>
            <a:ext cx="35112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быстрый вход во встречу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57881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3486150"/>
            <a:ext cx="55686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фокус на сессии, а не на постоянной коммуникации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731520" y="4434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 для разработки</a:t>
            </a:r>
            <a:endParaRPr lang="en-US" sz="2300" dirty="0"/>
          </a:p>
        </p:txBody>
      </p:sp>
      <p:sp>
        <p:nvSpPr>
          <p:cNvPr id="31" name="Text 29"/>
          <p:cNvSpPr/>
          <p:nvPr/>
        </p:nvSpPr>
        <p:spPr>
          <a:xfrm>
            <a:off x="786384" y="493776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объединить переписку, видеосвязь, друзей и роли в одном веб-приложении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786384" y="533095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оставить интерфейс проще корпоративных платформ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786384" y="572414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сделать модерацию и администрирование частью основной системы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Функциональные возможности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поддерживает сценарии гостя, пользователя, модератора и администратора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49808" y="173736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7240" y="20848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регистрация, email-подтверждение, восстановление пароля</a:t>
            </a:r>
            <a:endParaRPr lang="en-US" sz="1570" dirty="0"/>
          </a:p>
        </p:txBody>
      </p:sp>
      <p:sp>
        <p:nvSpPr>
          <p:cNvPr id="7" name="Text 5"/>
          <p:cNvSpPr/>
          <p:nvPr/>
        </p:nvSpPr>
        <p:spPr>
          <a:xfrm>
            <a:off x="777240" y="25420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профиль, аватар, оформление и список друзей</a:t>
            </a:r>
            <a:endParaRPr lang="en-US" sz="1570" dirty="0"/>
          </a:p>
        </p:txBody>
      </p:sp>
      <p:sp>
        <p:nvSpPr>
          <p:cNvPr id="8" name="Text 6"/>
          <p:cNvSpPr/>
          <p:nvPr/>
        </p:nvSpPr>
        <p:spPr>
          <a:xfrm>
            <a:off x="777240" y="29992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личные и групповые чаты</a:t>
            </a:r>
            <a:endParaRPr lang="en-US" sz="1570" dirty="0"/>
          </a:p>
        </p:txBody>
      </p:sp>
      <p:sp>
        <p:nvSpPr>
          <p:cNvPr id="9" name="Text 7"/>
          <p:cNvSpPr/>
          <p:nvPr/>
        </p:nvSpPr>
        <p:spPr>
          <a:xfrm>
            <a:off x="6309360" y="173736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КОММУНИКАЦИЯ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327648" y="20848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сообщения, ответы, пересылка, удаление и закрепление</a:t>
            </a:r>
            <a:endParaRPr lang="en-US" sz="1570" dirty="0"/>
          </a:p>
        </p:txBody>
      </p:sp>
      <p:sp>
        <p:nvSpPr>
          <p:cNvPr id="11" name="Text 9"/>
          <p:cNvSpPr/>
          <p:nvPr/>
        </p:nvSpPr>
        <p:spPr>
          <a:xfrm>
            <a:off x="6327648" y="25420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файлы, стикеры, реакции, опросы и отложенные сообщения</a:t>
            </a:r>
            <a:endParaRPr lang="en-US" sz="1570" dirty="0"/>
          </a:p>
        </p:txBody>
      </p:sp>
      <p:sp>
        <p:nvSpPr>
          <p:cNvPr id="12" name="Text 10"/>
          <p:cNvSpPr/>
          <p:nvPr/>
        </p:nvSpPr>
        <p:spPr>
          <a:xfrm>
            <a:off x="6327648" y="29992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голосовые и видеозвонки</a:t>
            </a:r>
            <a:endParaRPr lang="en-US" sz="1570" dirty="0"/>
          </a:p>
        </p:txBody>
      </p:sp>
      <p:sp>
        <p:nvSpPr>
          <p:cNvPr id="13" name="Shape 11"/>
          <p:cNvSpPr/>
          <p:nvPr/>
        </p:nvSpPr>
        <p:spPr>
          <a:xfrm>
            <a:off x="749808" y="4069080"/>
            <a:ext cx="10607040" cy="0"/>
          </a:xfrm>
          <a:prstGeom prst="line">
            <a:avLst/>
          </a:prstGeom>
          <a:noFill/>
          <a:ln w="1143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443484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И КОНТРОЛЬ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77240" y="478231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ролевые права внутри чатов: member, trusted, moderator, owner</a:t>
            </a:r>
            <a:endParaRPr lang="en-US" sz="1570" dirty="0"/>
          </a:p>
        </p:txBody>
      </p:sp>
      <p:sp>
        <p:nvSpPr>
          <p:cNvPr id="16" name="Text 14"/>
          <p:cNvSpPr/>
          <p:nvPr/>
        </p:nvSpPr>
        <p:spPr>
          <a:xfrm>
            <a:off x="777240" y="5221224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жалобы, предупреждения, блокировки, журналы событий</a:t>
            </a:r>
            <a:endParaRPr lang="en-US" sz="1570" dirty="0"/>
          </a:p>
        </p:txBody>
      </p:sp>
      <p:sp>
        <p:nvSpPr>
          <p:cNvPr id="17" name="Text 15"/>
          <p:cNvSpPr/>
          <p:nvPr/>
        </p:nvSpPr>
        <p:spPr>
          <a:xfrm>
            <a:off x="777240" y="5660136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админ-панель для пользователей, чатов, рассылок и статистики</a:t>
            </a:r>
            <a:endParaRPr lang="en-US" sz="1570" dirty="0"/>
          </a:p>
        </p:txBody>
      </p:sp>
      <p:sp>
        <p:nvSpPr>
          <p:cNvPr id="18" name="Shape 16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решения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Клиент, API, база данных, хранилище и сервисы реального времени разделены по ответственности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1965960" cy="713232"/>
          </a:xfrm>
          <a:prstGeom prst="roundRect">
            <a:avLst>
              <a:gd name="adj" fmla="val 3846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1984248"/>
            <a:ext cx="1709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+ TypeScript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703320" y="1874520"/>
            <a:ext cx="1965960" cy="713232"/>
          </a:xfrm>
          <a:prstGeom prst="roundRect">
            <a:avLst>
              <a:gd name="adj" fmla="val 3846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31336" y="1984248"/>
            <a:ext cx="1709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565392" y="1307592"/>
            <a:ext cx="2011680" cy="658368"/>
          </a:xfrm>
          <a:prstGeom prst="roundRect">
            <a:avLst>
              <a:gd name="adj" fmla="val 4167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93408" y="141732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320" dirty="0"/>
          </a:p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таблицы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565392" y="2441448"/>
            <a:ext cx="2011680" cy="658368"/>
          </a:xfrm>
          <a:prstGeom prst="roundRect">
            <a:avLst>
              <a:gd name="adj" fmla="val 4167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93408" y="2551176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MinIO</a:t>
            </a:r>
            <a:endParaRPr lang="en-US" sz="1320" dirty="0"/>
          </a:p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медиафайлы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3703320" y="3337560"/>
            <a:ext cx="1965960" cy="658368"/>
          </a:xfrm>
          <a:prstGeom prst="roundRect">
            <a:avLst>
              <a:gd name="adj" fmla="val 4167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31336" y="3447288"/>
            <a:ext cx="1709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</a:t>
            </a:r>
            <a:endParaRPr lang="en-US" sz="1320" dirty="0"/>
          </a:p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события чатов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6565392" y="3337560"/>
            <a:ext cx="2011680" cy="658368"/>
          </a:xfrm>
          <a:prstGeom prst="roundRect">
            <a:avLst>
              <a:gd name="adj" fmla="val 4167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93408" y="3447288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WebRTC / mediasoup</a:t>
            </a:r>
            <a:endParaRPr lang="en-US" sz="1320" dirty="0"/>
          </a:p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звонки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9281160" y="2331720"/>
            <a:ext cx="1965960" cy="658368"/>
          </a:xfrm>
          <a:prstGeom prst="roundRect">
            <a:avLst>
              <a:gd name="adj" fmla="val 4167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09176" y="2441448"/>
            <a:ext cx="1709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+ Nginx</a:t>
            </a:r>
            <a:endParaRPr lang="en-US" sz="1320" dirty="0"/>
          </a:p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развертывание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2788920" y="2231136"/>
            <a:ext cx="822960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27248" y="21214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715000" y="1737360"/>
            <a:ext cx="731520" cy="301752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07608" y="17785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715000" y="2386584"/>
            <a:ext cx="731520" cy="27432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07608" y="24140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633472"/>
            <a:ext cx="0" cy="59436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28392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715000" y="3657600"/>
            <a:ext cx="731520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07608" y="35478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686800" y="2743200"/>
            <a:ext cx="502920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65108" y="26334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4672" y="480060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→ Controllers → Services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22960" y="532180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REST API обслуживает бизнес-операции и проверку доступа</a:t>
            </a:r>
            <a:endParaRPr lang="en-US" sz="1470" dirty="0"/>
          </a:p>
        </p:txBody>
      </p:sp>
      <p:sp>
        <p:nvSpPr>
          <p:cNvPr id="33" name="Text 31"/>
          <p:cNvSpPr/>
          <p:nvPr/>
        </p:nvSpPr>
        <p:spPr>
          <a:xfrm>
            <a:off x="822960" y="565099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Socket.IO доставляет сообщения, реакции и системные события без опроса сервера</a:t>
            </a:r>
            <a:endParaRPr lang="en-US" sz="1470" dirty="0"/>
          </a:p>
        </p:txBody>
      </p:sp>
      <p:sp>
        <p:nvSpPr>
          <p:cNvPr id="34" name="Text 32"/>
          <p:cNvSpPr/>
          <p:nvPr/>
        </p:nvSpPr>
        <p:spPr>
          <a:xfrm>
            <a:off x="822960" y="598017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Docker Compose обеспечивает воспроизводимое окружение</a:t>
            </a:r>
            <a:endParaRPr lang="en-US" sz="1470" dirty="0"/>
          </a:p>
        </p:txBody>
      </p:sp>
      <p:sp>
        <p:nvSpPr>
          <p:cNvPr id="35" name="Shape 33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и безопасность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данных поддерживает коммуникацию, роли, модерацию и служебные процессы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таблицы PostgreSQL связаны внешними ключами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63240" y="1874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3063240" y="23774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логические группы данных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49808" y="3063240"/>
            <a:ext cx="4754880" cy="0"/>
          </a:xfrm>
          <a:prstGeom prst="line">
            <a:avLst/>
          </a:prstGeom>
          <a:noFill/>
          <a:ln w="11430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456432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основные сущности: users, profiles, roles, chats, friends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77240" y="3840480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коммуникация: messages, reactions, mentions, reads, polls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77240" y="422452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модерация: reports, warnings, bans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77240" y="4608576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служебные таблицы: коды регистрации, сброс пароля, app_logs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46520" y="18745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МЕХАНИЗМЫ ЗАЩИТЫ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73952" y="22677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JWT access/refresh токены для HTTP и Socket.IO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6473952" y="27249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bcryptjs для хеширования паролей</a:t>
            </a:r>
            <a:endParaRPr lang="en-US" sz="1520" dirty="0"/>
          </a:p>
        </p:txBody>
      </p:sp>
      <p:sp>
        <p:nvSpPr>
          <p:cNvPr id="17" name="Text 15"/>
          <p:cNvSpPr/>
          <p:nvPr/>
        </p:nvSpPr>
        <p:spPr>
          <a:xfrm>
            <a:off x="6473952" y="31821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проверка ролей по актуальным данным БД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6473952" y="36393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email-коды регистрации и восстановления доступа</a:t>
            </a:r>
            <a:endParaRPr lang="en-US" sz="1520" dirty="0"/>
          </a:p>
        </p:txBody>
      </p:sp>
      <p:sp>
        <p:nvSpPr>
          <p:cNvPr id="19" name="Text 17"/>
          <p:cNvSpPr/>
          <p:nvPr/>
        </p:nvSpPr>
        <p:spPr>
          <a:xfrm>
            <a:off x="6473952" y="4096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валидация входных данных на уровне API и клиента</a:t>
            </a:r>
            <a:endParaRPr lang="en-US" sz="1520" dirty="0"/>
          </a:p>
        </p:txBody>
      </p:sp>
      <p:sp>
        <p:nvSpPr>
          <p:cNvPr id="20" name="Shape 18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БГТУ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веб-приложения Lume для видеозвонков и обмена сообщениями</dc:title>
  <dc:subject>Презентация для защиты дипломного проекта</dc:subject>
  <dc:creator>Шатерник Глеб</dc:creator>
  <cp:lastModifiedBy>Шатерник Глеб</cp:lastModifiedBy>
  <cp:revision>1</cp:revision>
  <dcterms:created xsi:type="dcterms:W3CDTF">2026-05-25T01:53:52Z</dcterms:created>
  <dcterms:modified xsi:type="dcterms:W3CDTF">2026-05-25T01:53:52Z</dcterms:modified>
</cp:coreProperties>
</file>