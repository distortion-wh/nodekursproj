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0:00-0:30.
Уважаемые члены комиссии, тема моего дипломного проекта - разработка веб-приложения Lume для видеозвонков и обмена сообщениями. В докладе я кратко покажу актуальность задачи, архитектуру, основные функции, результаты тестирования и экономическое обоснование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0:30-1:10.
Актуальность проекта связана с тем, что пользователям нужна единая среда для коммуникации: не только сообщения, но и файлы, звонки, управление доступом и модерация. Целью работы стала разработка веб-приложения Lume, которое объединяет эти сценарии в браузере и может применяться индивидуальными пользователями, учебными группами и небольшими командами.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1:10-1:45.
Для достижения цели были поставлены шесть задач. Сначала я изучил существующие решения, затем спроектировал требования, архитектуру, базу данных и интерфейс. После этого были реализованы клиентская и серверная части, выполнено тестирование, подготовлено руководство пользователя и рассчитаны экономические показатели.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1:45-2:25.
В аналитическом разделе были рассмотрены Zoom, Discord и Google Meet. Zoom силен в видеоконференциях, но не закрывает постоянные чаты и социальную модель. Discord лучше подходит для сообществ, но сложен и остается внешней платформой. Google Meet удобен для встреч, но не решает задачу постоянного обмена сообщениями. Поэтому Lume строился как объединение сообщений, звонков, друзей, ролей и модерации в одном веб-приложении.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2:25-3:05.
Функционально приложение закрывает основные сценарии коммуникации. Пользователь может зарегистрироваться, подтвердить email, настроить профиль, добавить друзей, вести личные и групповые чаты. В сообщениях реализованы ответы, пересылка, реакции, стикеры, файлы, опросы и отложенная отправка. Для контроля порядка предусмотрены роли внутри чатов, жалобы, предупреждения, блокировки, журналы событий и административная панель.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3:05-3:55.
Архитектура разделена на клиентскую часть, серверный API, базу данных, объектное хранилище и сервисы реального времени. Клиент написан на React и TypeScript. Серверная часть использует Node.js и Express, а внутри разделена на маршруты, контроллеры и сервисы. PostgreSQL хранит основные данные, MinIO вынесен для медиафайлов. Socket.IO отвечает за события чатов, WebRTC и mediasoup - за звонки. Для развертывания подготовлены Docker, Docker Compose и Nginx.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3:55-4:35.
База данных включает 22 таблицы, объединенные внешними ключами. Их можно разделить на четыре группы: основные таблицы пользователей, ролей, чатов и друзей; таблицы коммуникации; таблицы модерации; служебные таблицы для кодов подтверждения и журналов. Безопасность обеспечивается JWT-токенами, хешированием паролей через bcryptjs, проверкой ролей по актуальным данным базы, email-подтверждением и валидацией входных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4:35-5:15.
Для обмена сообщениями используется событийная модель Socket.IO. При отправке сообщения сервер проверяет токен и права пользователя, сохраняет запись в PostgreSQL и рассылает событие только участникам нужной комнаты. Для видеосвязи реализована логика мониторинга качества соединения: анализируются RTT, джиттер, потери пакетов и пропускная способность. При прогнозируемой деградации битрейт снижается, а после стабилизации плавно восстанавливается.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5:15-5:55.
На слайде показан пользовательский интерфейс. После входа пользователь видит рабочую область с навигацией по чатам и друзьям, область переписки и панель действий. Через интерфейс можно отправлять сообщения, файлы, реакции, стикеры, работать с медиа и управлять профилем. Отдельное внимание уделено персонализации профиля, чтобы пользователь мог настроить внешний вид и данные аккаунта.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5:55-6:30.
В системе предусмотрены четыре роли: гость, пользователь, модератор и администратор. Модератор обрабатывает жалобы, выдает предупреждения и блокирует нарушителей. Администратор дополнительно управляет пользователями, чатами, рассылками, статистикой и логами. Важный момент - права проверяются на сервере по актуальным данным базы, поэтому клиент не может самостоятельно повысить привилегии.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6:30-7:10.
Для проверки были выполнены негативные и функциональные тесты. Негативное тестирование включало ошибки входа, регистрации, создания чата, отправки сообщений, загрузки файлов и доступа к административным маршрутам. Всего проведен 41 функциональный тест. Проверки подтвердили корректную работу регистрации, авторизации, сообщений, ролей, WebRTC-звонков и механизмов восстановления соединения.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7:10-7:55.
В экономическом разделе рассчитана полная себестоимость разработки и первичного сопровождения - 18 146 рублей 60 копеек. Анализ аналогичных проектов показал минимальную рыночную оценку 26 526 рублей 50 копеек и среднюю цену 32 091 рубль 75 копеек. Цена продажи с НДС принята 28 308 рублей 70 копеек. Прибыль составляет 5 443 рубля 98 копеек, рентабельность - 30 процентов, чистая прибыль - 4 355 рублей 18 копеек. Это подтверждает экономическую целесообразность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7:55-8:15.
В результате работы цель дипломного проекта достигнута: разработано веб-приложение Lume для видеозвонков и обмена сообщениями. Были выполнены анализ, проектирование, реализация, тестирование, руководство пользователя и экономическое обоснование. Проект может использоваться как основа для дальнейшего развития коммуникационной платформы. Спасибо за внимание,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БГТУ | дипломный проект |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219456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98448"/>
            <a:ext cx="9966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веб-приложения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«Lume» для видеозвонков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обмена сообщениями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94944" y="38953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/ Node.js + Express / PostgreSQL / Socket.IO / WebRTC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4944" y="54864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Студент: Шатерник Глеб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доклада: 8 минут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38360" y="5330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549640" y="5870448"/>
            <a:ext cx="28803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и цель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решает задачу единой управляемой среды цифрового общения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1883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цифровая коммуникация требует переписки, звонков и обмена файлами в одном окне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33101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сторонние платформы ограничивают контроль над данными, ролями и правилами доступа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396849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для учебных групп, команд и сообществ важны простота, безопасность и управляемость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0" cy="347472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9019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РАЗРАБОТКИ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03720" y="2221992"/>
            <a:ext cx="4434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веб-приложение «Lume» для личного и группового общения пользователей с поддержкой сообщений, файлов, голосовых и видеозвонков, системы друзей, персонализации профиля, модерации и администрирования.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1286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01014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910742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1020470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дипломного проекта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охватила полный цикл: от анализа аналогов до экономического обоснования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34440" y="194767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7647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Проанализировать аналоги: Zoom, Discord, Google Meet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244144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234440" y="2606040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4231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Сформировать требования и спроектировать архитектуру приложения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309981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34440" y="3264408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0815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структуру базы данных и пользовательский интерфейс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" y="37581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234440" y="3922776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37398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клиентскую и серверную части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441655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234440" y="4581144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439826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работоспособность ключевых функций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234440" y="523951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50566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руководство пользователя и экономический расчет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аналогов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сравнения выделены функции, которые должны быть объединены в Lume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810512"/>
            <a:ext cx="10789920" cy="214884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10512"/>
            <a:ext cx="10789920" cy="53721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87452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3704" y="187452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Сильная сторона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61304" y="187452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для проекта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713232" y="234772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41173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241173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стабильные видеоконференции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61304" y="241173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постоянного контекста чатов и системы друзей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13232" y="288493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294894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294894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сообщества, каналы, голосовая связь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61304" y="294894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избыточная сложность и зависимость от внешней платформы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13232" y="342214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48615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Meet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03704" y="348615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вход во встречу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348615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на сессии, а не на постоянной коммуникации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31520" y="4434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для разработки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786384" y="493776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объединить переписку, видеосвязь, друзей и роли в одном веб-приложении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86384" y="533095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оставить интерфейс проще корпоративных платформ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86384" y="572414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сделать модерацию и администрирование частью основной системы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возможности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поддерживает сценарии гостя, пользователя, модератора и администратора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регистрация, email-подтверждение, восстановление пароля</a:t>
            </a:r>
            <a:endParaRPr lang="en-US" sz="157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профиль, аватар, оформление и список друзей</a:t>
            </a:r>
            <a:endParaRPr lang="en-US" sz="1570" dirty="0"/>
          </a:p>
        </p:txBody>
      </p:sp>
      <p:sp>
        <p:nvSpPr>
          <p:cNvPr id="8" name="Text 6"/>
          <p:cNvSpPr/>
          <p:nvPr/>
        </p:nvSpPr>
        <p:spPr>
          <a:xfrm>
            <a:off x="777240" y="29992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личные и групповые чаты</a:t>
            </a:r>
            <a:endParaRPr lang="en-US" sz="1570" dirty="0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27648" y="2084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сообщения, ответы, пересылка, удаление и закрепление</a:t>
            </a:r>
            <a:endParaRPr lang="en-US" sz="1570" dirty="0"/>
          </a:p>
        </p:txBody>
      </p:sp>
      <p:sp>
        <p:nvSpPr>
          <p:cNvPr id="11" name="Text 9"/>
          <p:cNvSpPr/>
          <p:nvPr/>
        </p:nvSpPr>
        <p:spPr>
          <a:xfrm>
            <a:off x="6327648" y="2542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файлы, стикеры, реакции, опросы и отложенные сообщения</a:t>
            </a:r>
            <a:endParaRPr lang="en-US" sz="1570" dirty="0"/>
          </a:p>
        </p:txBody>
      </p:sp>
      <p:sp>
        <p:nvSpPr>
          <p:cNvPr id="12" name="Text 10"/>
          <p:cNvSpPr/>
          <p:nvPr/>
        </p:nvSpPr>
        <p:spPr>
          <a:xfrm>
            <a:off x="6327648" y="29992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голосовые и видеозвонки</a:t>
            </a:r>
            <a:endParaRPr lang="en-US" sz="1570" dirty="0"/>
          </a:p>
        </p:txBody>
      </p:sp>
      <p:sp>
        <p:nvSpPr>
          <p:cNvPr id="13" name="Shape 11"/>
          <p:cNvSpPr/>
          <p:nvPr/>
        </p:nvSpPr>
        <p:spPr>
          <a:xfrm>
            <a:off x="749808" y="4069080"/>
            <a:ext cx="1060704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4348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И КОНТРОЛЬ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478231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ролевые права внутри чатов: member, trusted, moderator, owner</a:t>
            </a:r>
            <a:endParaRPr lang="en-US" sz="1570" dirty="0"/>
          </a:p>
        </p:txBody>
      </p:sp>
      <p:sp>
        <p:nvSpPr>
          <p:cNvPr id="16" name="Text 14"/>
          <p:cNvSpPr/>
          <p:nvPr/>
        </p:nvSpPr>
        <p:spPr>
          <a:xfrm>
            <a:off x="777240" y="522122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жалобы, предупреждения, блокировки, журналы событий</a:t>
            </a:r>
            <a:endParaRPr lang="en-US" sz="1570" dirty="0"/>
          </a:p>
        </p:txBody>
      </p:sp>
      <p:sp>
        <p:nvSpPr>
          <p:cNvPr id="17" name="Text 15"/>
          <p:cNvSpPr/>
          <p:nvPr/>
        </p:nvSpPr>
        <p:spPr>
          <a:xfrm>
            <a:off x="777240" y="566013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админ-панель для пользователей, чатов, рассылок и статистики</a:t>
            </a:r>
            <a:endParaRPr lang="en-US" sz="1570" dirty="0"/>
          </a:p>
        </p:txBody>
      </p:sp>
      <p:sp>
        <p:nvSpPr>
          <p:cNvPr id="18" name="Shape 16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решения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Клиент, API, база данных, хранилище и сервисы реального времени разделены по ответственности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965960" cy="713232"/>
          </a:xfrm>
          <a:prstGeom prst="roundRect">
            <a:avLst>
              <a:gd name="adj" fmla="val 3846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984248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703320" y="1874520"/>
            <a:ext cx="1965960" cy="713232"/>
          </a:xfrm>
          <a:prstGeom prst="roundRect">
            <a:avLst>
              <a:gd name="adj" fmla="val 3846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31336" y="1984248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65392" y="1307592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141732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таблицы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65392" y="2441448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255117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медиафайлы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703320" y="3337560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31336" y="344728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 чатов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565392" y="3337560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344728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/ mediasoup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9281160" y="2331720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9176" y="244144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Nginx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развертывание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2788920" y="2231136"/>
            <a:ext cx="8229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21214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15000" y="1737360"/>
            <a:ext cx="731520" cy="301752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07608" y="17785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0" y="2386584"/>
            <a:ext cx="731520" cy="27432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7608" y="24140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633472"/>
            <a:ext cx="0" cy="59436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8392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15000" y="3657600"/>
            <a:ext cx="73152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07608" y="3547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0" y="2743200"/>
            <a:ext cx="50292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5108" y="26334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48006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→ Controllers → Services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2960" y="532180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 API обслуживает бизнес-операции и проверку доступа</a:t>
            </a:r>
            <a:endParaRPr lang="en-US" sz="1470" dirty="0"/>
          </a:p>
        </p:txBody>
      </p:sp>
      <p:sp>
        <p:nvSpPr>
          <p:cNvPr id="33" name="Text 31"/>
          <p:cNvSpPr/>
          <p:nvPr/>
        </p:nvSpPr>
        <p:spPr>
          <a:xfrm>
            <a:off x="822960" y="56509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Socket.IO доставляет сообщения, реакции и системные события без опроса сервера</a:t>
            </a:r>
            <a:endParaRPr lang="en-US" sz="1470" dirty="0"/>
          </a:p>
        </p:txBody>
      </p:sp>
      <p:sp>
        <p:nvSpPr>
          <p:cNvPr id="34" name="Text 32"/>
          <p:cNvSpPr/>
          <p:nvPr/>
        </p:nvSpPr>
        <p:spPr>
          <a:xfrm>
            <a:off x="822960" y="598017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Docker Compose обеспечивает воспроизводимое окружение</a:t>
            </a:r>
            <a:endParaRPr lang="en-US" sz="1470" dirty="0"/>
          </a:p>
        </p:txBody>
      </p:sp>
      <p:sp>
        <p:nvSpPr>
          <p:cNvPr id="35" name="Shape 33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безопасность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данных поддерживает коммуникацию, роли, модерацию и служебные процессы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 PostgreSQL связаны внешними ключами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6324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3063240" y="23774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логические группы данных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3063240"/>
            <a:ext cx="475488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5643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основные сущности: users, profiles, roles, chats, friends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коммуникация: messages, reactions, mentions, reads, polls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2245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модерация: reports, warnings, bans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7240" y="460857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служебные таблицы: коды регистрации, сброс пароля, app_logs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МЕХАНИЗМЫ ЗАЩИТЫ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73952" y="22677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access/refresh токены для HTTP и Socket.IO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6473952" y="2724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bcryptjs для хеширования паролей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6473952" y="3182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проверка ролей по актуальным данным БД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473952" y="36393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email-коды регистрации и восстановления доступа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6473952" y="4096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валидация входных данных на уровне API и клиента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Реальное время и видеосвязь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Критичные пользовательские действия выполняются без перезагрузки страницы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ОТПРАВКА СООБЩЕНИЯ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222199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000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549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прав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414223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73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в БД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06247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3796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room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798271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072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5820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8621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UI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22960" y="3182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сервер сохраняет сообщение и рассылает событие только участникам chat_id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822960" y="35661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реакции, удаления и системные уведомления синхронизируются тем же каналом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749808" y="4069080"/>
            <a:ext cx="1065276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3708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ВИДЕОЗВОНКА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2960" y="47183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сбор RTT, джиттера, потери пакетов и пропускной способности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822960" y="51023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прогноз деградации сети на 2 секунды вперед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822960" y="5486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при риске сбоя битрейт снижается до 500 кбит/с, затем плавно восстанавливается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пользователя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 экран объединяет навигацию, переписку, медиа и управление профилем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516636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6" name="Image 0" descr="E:\1LABS\kp\nodekursproj-main1\.codex_doc_work\zapiska_media\image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41194"/>
            <a:ext cx="5166360" cy="23240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416052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рабочая область и чат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228600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9" name="Image 1" descr="E:\1LABS\kp\nodekursproj-main1\.codex_doc_work\zapiska_media\image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321694"/>
            <a:ext cx="2286000" cy="11630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 и видеосценарии</a:t>
            </a:r>
            <a:endParaRPr lang="en-US" sz="880" dirty="0"/>
          </a:p>
        </p:txBody>
      </p:sp>
      <p:sp>
        <p:nvSpPr>
          <p:cNvPr id="11" name="Shape 7"/>
          <p:cNvSpPr/>
          <p:nvPr/>
        </p:nvSpPr>
        <p:spPr>
          <a:xfrm>
            <a:off x="8915400" y="1737360"/>
            <a:ext cx="228600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12" name="Image 2" descr="E:\1LABS\kp\nodekursproj-main1\.codex_doc_work\zapiska_media\image4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874653"/>
            <a:ext cx="2286000" cy="20571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профиля</a:t>
            </a:r>
            <a:endParaRPr lang="en-US" sz="880" dirty="0"/>
          </a:p>
        </p:txBody>
      </p:sp>
      <p:sp>
        <p:nvSpPr>
          <p:cNvPr id="14" name="Text 9"/>
          <p:cNvSpPr/>
          <p:nvPr/>
        </p:nvSpPr>
        <p:spPr>
          <a:xfrm>
            <a:off x="777240" y="48920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слева: чаты, друзья, входящие заявки и поиск пользователей</a:t>
            </a:r>
            <a:endParaRPr lang="en-US" sz="1480" dirty="0"/>
          </a:p>
        </p:txBody>
      </p:sp>
      <p:sp>
        <p:nvSpPr>
          <p:cNvPr id="15" name="Text 10"/>
          <p:cNvSpPr/>
          <p:nvPr/>
        </p:nvSpPr>
        <p:spPr>
          <a:xfrm>
            <a:off x="777240" y="52395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 центре: переписка, вложения, реакции, стикеры и действия над сообщениями</a:t>
            </a:r>
            <a:endParaRPr lang="en-US" sz="1480" dirty="0"/>
          </a:p>
        </p:txBody>
      </p:sp>
      <p:sp>
        <p:nvSpPr>
          <p:cNvPr id="16" name="Text 11"/>
          <p:cNvSpPr/>
          <p:nvPr/>
        </p:nvSpPr>
        <p:spPr>
          <a:xfrm>
            <a:off x="777240" y="558698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 профиле: аватар, фон, цвета, бейджи и смена пароля</a:t>
            </a:r>
            <a:endParaRPr lang="en-US" sz="1480" dirty="0"/>
          </a:p>
        </p:txBody>
      </p:sp>
      <p:sp>
        <p:nvSpPr>
          <p:cNvPr id="17" name="Shape 12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 и администрирование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Ролевой контроль встроен в бизнес-логику сервера и пользовательский интерфейс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33832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6" name="Image 0" descr="E:\1LABS\kp\nodekursproj-main1\.codex_doc_work\zapiska_media\image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40868"/>
            <a:ext cx="3383280" cy="14560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34840" y="1737360"/>
            <a:ext cx="33832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8" name="Image 1" descr="E:\1LABS\kp\nodekursproj-main1\.codex_doc_work\zapiska_media\image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772014"/>
            <a:ext cx="3383280" cy="139373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56448" y="1737360"/>
            <a:ext cx="33832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10" name="Image 2" descr="E:\1LABS\kp\nodekursproj-main1\.codex_doc_work\zapiska_media\image5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1998553"/>
            <a:ext cx="3383280" cy="9406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232" y="3291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Панель модератора</a:t>
            </a:r>
            <a:endParaRPr lang="en-US" sz="880" dirty="0"/>
          </a:p>
        </p:txBody>
      </p:sp>
      <p:sp>
        <p:nvSpPr>
          <p:cNvPr id="12" name="Text 7"/>
          <p:cNvSpPr/>
          <p:nvPr/>
        </p:nvSpPr>
        <p:spPr>
          <a:xfrm>
            <a:off x="4434840" y="3291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пользователями</a:t>
            </a:r>
            <a:endParaRPr lang="en-US" sz="880" dirty="0"/>
          </a:p>
        </p:txBody>
      </p:sp>
      <p:sp>
        <p:nvSpPr>
          <p:cNvPr id="13" name="Text 8"/>
          <p:cNvSpPr/>
          <p:nvPr/>
        </p:nvSpPr>
        <p:spPr>
          <a:xfrm>
            <a:off x="8156448" y="3291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 приложения</a:t>
            </a:r>
            <a:endParaRPr lang="en-US" sz="880" dirty="0"/>
          </a:p>
        </p:txBody>
      </p:sp>
      <p:sp>
        <p:nvSpPr>
          <p:cNvPr id="14" name="Text 9"/>
          <p:cNvSpPr/>
          <p:nvPr/>
        </p:nvSpPr>
        <p:spPr>
          <a:xfrm>
            <a:off x="749808" y="4160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777240" y="45171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гость: регистрация и вход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77240" y="4846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пользователь: чаты, друзья, профиль, звонки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77240" y="51755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модератор: жалобы, предупреждения, блокировки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77240" y="55046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администратор: пользователи, чаты, рассылки, статистика, логи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46520" y="41605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ПРИНЦИП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6473952" y="4526280"/>
            <a:ext cx="4754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Права доступа проверяются на сервере при каждом запросе. Это исключает обход ограничений через устаревший токен или подмену состояния на клиенте.</a:t>
            </a:r>
            <a:endParaRPr lang="en-US" sz="1520" dirty="0"/>
          </a:p>
        </p:txBody>
      </p:sp>
      <p:sp>
        <p:nvSpPr>
          <p:cNvPr id="21" name="Shape 16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Проверены стандартные, граничные и ошибочные сценарии работы приложения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41248" y="256032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функциональный тест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пройден успешно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86200" y="17556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и вход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355080" y="175564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email-код, пароль, блокировка, ошибки авторизации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3886200" y="2194560"/>
            <a:ext cx="7360920" cy="0"/>
          </a:xfrm>
          <a:prstGeom prst="line">
            <a:avLst/>
          </a:prstGeom>
          <a:noFill/>
          <a:ln w="8255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24323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 и чаты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355080" y="243230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доставка через Socket.IO, роли участников, приглашения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3886200" y="2871216"/>
            <a:ext cx="7360920" cy="0"/>
          </a:xfrm>
          <a:prstGeom prst="line">
            <a:avLst/>
          </a:prstGeom>
          <a:noFill/>
          <a:ln w="8255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31089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 и валидация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55080" y="310896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лимит 5 МБ, формат email, длины полей, пустые значения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3886200" y="3547872"/>
            <a:ext cx="7360920" cy="0"/>
          </a:xfrm>
          <a:prstGeom prst="line">
            <a:avLst/>
          </a:prstGeom>
          <a:noFill/>
          <a:ln w="8255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37856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Администрирование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5080" y="378561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/admin/* и /moderator/*, запрет эскалации прав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3886200" y="4224528"/>
            <a:ext cx="7360920" cy="0"/>
          </a:xfrm>
          <a:prstGeom prst="line">
            <a:avLst/>
          </a:prstGeom>
          <a:noFill/>
          <a:ln w="825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44622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355080" y="446227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WebRTC-звонки, восстановление Socket.IO при нестабильной сети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3886200" y="4901184"/>
            <a:ext cx="7360920" cy="0"/>
          </a:xfrm>
          <a:prstGeom prst="line">
            <a:avLst/>
          </a:prstGeom>
          <a:noFill/>
          <a:ln w="825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5166360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 система корректно обрабатывает ошибки и сохраняет работоспособность в ключевых сценариях.</a:t>
            </a:r>
            <a:endParaRPr lang="en-US" sz="1720" dirty="0"/>
          </a:p>
        </p:txBody>
      </p:sp>
      <p:sp>
        <p:nvSpPr>
          <p:cNvPr id="23" name="Shape 21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Технико-экономическое обоснование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Расчет показывает экономическую целесообразность продажи веб-приложения заказчику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719072"/>
            <a:ext cx="5349240" cy="333756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19072"/>
            <a:ext cx="5349240" cy="417195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783080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98264" y="1783080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" y="2136267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200275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себестоимость разработки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98264" y="2200275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18 146,60 руб.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13232" y="2553462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617470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Минимальная рыночная оценка аналога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98264" y="2617470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26 526,50 руб.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13232" y="2970657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034665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рыночная цена аналогов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98264" y="3034665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32 091,75 руб.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13232" y="3387852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3451860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продажи с НДС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98264" y="3451860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28 308,70 руб.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13232" y="3805047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869055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 от реализации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98264" y="3869055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5 443,98 руб.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13232" y="4222242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4286250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Рентабельность продукта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98264" y="4286250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30,00%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713232" y="4639437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" y="4703445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98264" y="4703445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4 355,18 руб.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644652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Себестоимость</a:t>
            </a:r>
            <a:endParaRPr lang="en-US" sz="1180" dirty="0"/>
          </a:p>
        </p:txBody>
      </p:sp>
      <p:sp>
        <p:nvSpPr>
          <p:cNvPr id="39" name="Shape 37"/>
          <p:cNvSpPr/>
          <p:nvPr/>
        </p:nvSpPr>
        <p:spPr>
          <a:xfrm>
            <a:off x="8229600" y="1938528"/>
            <a:ext cx="2606040" cy="146304"/>
          </a:xfrm>
          <a:prstGeom prst="rect">
            <a:avLst/>
          </a:prstGeom>
          <a:solidFill>
            <a:srgbClr val="E1E1E1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0" y="1938528"/>
            <a:ext cx="1433053" cy="1463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27080" y="18836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18 146,60 руб.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6446520" y="2560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Минимум рынка</a:t>
            </a:r>
            <a:endParaRPr lang="en-US" sz="1180" dirty="0"/>
          </a:p>
        </p:txBody>
      </p:sp>
      <p:sp>
        <p:nvSpPr>
          <p:cNvPr id="43" name="Shape 41"/>
          <p:cNvSpPr/>
          <p:nvPr/>
        </p:nvSpPr>
        <p:spPr>
          <a:xfrm>
            <a:off x="8229600" y="2596896"/>
            <a:ext cx="2606040" cy="146304"/>
          </a:xfrm>
          <a:prstGeom prst="rect">
            <a:avLst/>
          </a:prstGeom>
          <a:solidFill>
            <a:srgbClr val="E1E1E1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9600" y="2596896"/>
            <a:ext cx="2094822" cy="1463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927080" y="25420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26 526,50 руб.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6446520" y="32186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продажи</a:t>
            </a:r>
            <a:endParaRPr lang="en-US" sz="1180" dirty="0"/>
          </a:p>
        </p:txBody>
      </p:sp>
      <p:sp>
        <p:nvSpPr>
          <p:cNvPr id="47" name="Shape 45"/>
          <p:cNvSpPr/>
          <p:nvPr/>
        </p:nvSpPr>
        <p:spPr>
          <a:xfrm>
            <a:off x="8229600" y="3255264"/>
            <a:ext cx="2606040" cy="146304"/>
          </a:xfrm>
          <a:prstGeom prst="rect">
            <a:avLst/>
          </a:prstGeom>
          <a:solidFill>
            <a:srgbClr val="E1E1E1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29600" y="3255264"/>
            <a:ext cx="2235564" cy="1463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927080" y="32004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28 308,70 руб.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6446520" y="3877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цена</a:t>
            </a:r>
            <a:endParaRPr lang="en-US" sz="1180" dirty="0"/>
          </a:p>
        </p:txBody>
      </p:sp>
      <p:sp>
        <p:nvSpPr>
          <p:cNvPr id="51" name="Shape 49"/>
          <p:cNvSpPr/>
          <p:nvPr/>
        </p:nvSpPr>
        <p:spPr>
          <a:xfrm>
            <a:off x="8229600" y="3913632"/>
            <a:ext cx="2606040" cy="146304"/>
          </a:xfrm>
          <a:prstGeom prst="rect">
            <a:avLst/>
          </a:prstGeom>
          <a:solidFill>
            <a:srgbClr val="E1E1E1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3913632"/>
            <a:ext cx="2534315" cy="1463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27080" y="38587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32 091,75 руб.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6446520" y="489204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цена реализации превышает себестоимость, а прибыль, рентабельность и чистая прибыль имеют положительные значения.</a:t>
            </a:r>
            <a:endParaRPr lang="en-US" sz="1540" dirty="0"/>
          </a:p>
        </p:txBody>
      </p:sp>
      <p:sp>
        <p:nvSpPr>
          <p:cNvPr id="55" name="Shape 53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дипломного проекта достигнута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проведен анализ предметной области и аналогичных решений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295144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спроектированы архитектура, база данных, роли и основные алгоритмы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807208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реализовано веб-приложение с чатами, друзьями, звонками, модерацией и администрированием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319272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выполнено тестирование ключевых и ошибочных сценариев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831336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экономический расчет подтверждает целесообразность разработки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52578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68096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 ответить на вопросы комиссии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БГТУ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веб-приложения Lume для видеозвонков и обмена сообщениями</dc:title>
  <dc:subject>Презентация для защиты дипломного проекта</dc:subject>
  <dc:creator>Шатерник Глеб</dc:creator>
  <cp:lastModifiedBy>Шатерник Глеб</cp:lastModifiedBy>
  <cp:revision>1</cp:revision>
  <dcterms:created xsi:type="dcterms:W3CDTF">2026-05-25T01:53:53Z</dcterms:created>
  <dcterms:modified xsi:type="dcterms:W3CDTF">2026-05-25T01:53:53Z</dcterms:modified>
</cp:coreProperties>
</file>