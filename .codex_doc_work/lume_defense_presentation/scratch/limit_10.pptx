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0:00-0:30.
Уважаемые члены комиссии, тема моего дипломного проекта - разработка веб-приложения Lume для видеозвонков и обмена сообщениями. В докладе я кратко покажу актуальность задачи, архитектуру, основные функции, результаты тестирования и экономическое обоснование проекта.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0:30-1:10.
Актуальность проекта связана с тем, что пользователям нужна единая среда для коммуникации: не только сообщения, но и файлы, звонки, управление доступом и модерация. Целью работы стала разработка веб-приложения Lume, которое объединяет эти сценарии в браузере и может применяться индивидуальными пользователями, учебными группами и небольшими командами.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1:10-1:45.
Для достижения цели были поставлены шесть задач. Сначала я изучил существующие решения, затем спроектировал требования, архитектуру, базу данных и интерфейс. После этого были реализованы клиентская и серверная части, выполнено тестирование, подготовлено руководство пользователя и рассчитаны экономические показатели.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1:45-2:25.
В аналитическом разделе были рассмотрены Zoom, Discord и Google Meet. Zoom силен в видеоконференциях, но не закрывает постоянные чаты и социальную модель. Discord лучше подходит для сообществ, но сложен и остается внешней платформой. Google Meet удобен для встреч, но не решает задачу постоянного обмена сообщениями. Поэтому Lume строился как объединение сообщений, звонков, друзей, ролей и модерации в одном веб-приложении.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2:25-3:05.
Функционально приложение закрывает основные сценарии коммуникации. Пользователь может зарегистрироваться, подтвердить email, настроить профиль, добавить друзей, вести личные и групповые чаты. В сообщениях реализованы ответы, пересылка, реакции, стикеры, файлы, опросы и отложенная отправка. Для контроля порядка предусмотрены роли внутри чатов, жалобы, предупреждения, блокировки, журналы событий и административная панель.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3:05-3:55.
Архитектура разделена на клиентскую часть, серверный API, базу данных, объектное хранилище и сервисы реального времени. Клиент написан на React и TypeScript. Серверная часть использует Node.js и Express, а внутри разделена на маршруты, контроллеры и сервисы. PostgreSQL хранит основные данные, MinIO вынесен для медиафайлов. Socket.IO отвечает за события чатов, WebRTC и mediasoup - за звонки. Для развертывания подготовлены Docker, Docker Compose и Nginx.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3:55-4:35.
База данных включает 22 таблицы, объединенные внешними ключами. Их можно разделить на четыре группы: основные таблицы пользователей, ролей, чатов и друзей; таблицы коммуникации; таблицы модерации; служебные таблицы для кодов подтверждения и журналов. Безопасность обеспечивается JWT-токенами, хешированием паролей через bcryptjs, проверкой ролей по актуальным данным базы, email-подтверждением и валидацией входных данных.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4:35-5:15.
Для обмена сообщениями используется событийная модель Socket.IO. При отправке сообщения сервер проверяет токен и права пользователя, сохраняет запись в PostgreSQL и рассылает событие только участникам нужной комнаты. Для видеосвязи реализована логика мониторинга качества соединения: анализируются RTT, джиттер, потери пакетов и пропускная способность. При прогнозируемой деградации битрейт снижается, а после стабилизации плавно восстанавливается.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5:15-5:55.
На слайде показан пользовательский интерфейс. После входа пользователь видит рабочую область с навигацией по чатам и друзьям, область переписки и панель действий. Через интерфейс можно отправлять сообщения, файлы, реакции, стикеры, работать с медиа и управлять профилем. Отдельное внимание уделено персонализации профиля, чтобы пользователь мог настроить внешний вид и данные аккаунта.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5:55-6:30.
В системе предусмотрены четыре роли: гость, пользователь, модератор и администратор. Модератор обрабатывает жалобы, выдает предупреждения и блокирует нарушителей. Администратор дополнительно управляет пользователями, чатами, рассылками, статистикой и логами. Важный момент - права проверяются на сервере по актуальным данным базы, поэтому клиент не может самостоятельно повысить привилегии.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БГТУ | дипломный проект |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58368" y="987552"/>
            <a:ext cx="219456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98448"/>
            <a:ext cx="9966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веб-приложения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«Lume» для видеозвонков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обмена сообщениями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94944" y="3895344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TypeScript / Node.js + Express / PostgreSQL / Socket.IO / WebRTC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94944" y="548640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Студент: Шатерник Глеб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 доклада: 8 минут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38360" y="53309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549640" y="5870448"/>
            <a:ext cx="288036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 и цель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решает задачу единой управляемой среды цифрового общения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13232" y="18836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 важно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49808" y="26517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цифровая коммуникация требует переписки, звонков и обмена файлами в одном окне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33101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сторонние платформы ограничивают контроль над данными, ролями и правилами доступа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9808" y="396849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для учебных групп, команд и сообществ важны простота, безопасность и управляемость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37960" y="1828800"/>
            <a:ext cx="0" cy="347472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190195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РАЗРАБОТКИ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903720" y="2221992"/>
            <a:ext cx="4434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веб-приложение «Lume» для личного и группового общения пользователей с поддержкой сообщений, файлов, голосовых и видеозвонков, системы друзей, персонализации профиля, модерации и администрирования.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91286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сообщения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801014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файлы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910742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звонки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1020470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модерация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 дипломного проекта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охватила полный цикл: от анализа аналогов до экономического обоснования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9808" y="178308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234440" y="1947672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17647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Проанализировать аналоги: Zoom, Discord, Google Meet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244144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234440" y="2606040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242316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Сформировать требования и спроектировать архитектуру приложения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" y="309981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234440" y="3264408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308152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структуру базы данных и пользовательский интерфейс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9808" y="375818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234440" y="3922776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373989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Реализовать клиентскую и серверную части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49808" y="441655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234440" y="4581144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74520" y="439826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работоспособность ключевых функций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9808" y="507492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234440" y="5239512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74520" y="505663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Подготовить руководство пользователя и экономический расчет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аналогов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сравнения выделены функции, которые должны быть объединены в Lume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810512"/>
            <a:ext cx="10789920" cy="2148840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10512"/>
            <a:ext cx="10789920" cy="53721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87452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Аналог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03704" y="187452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Сильная сторона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61304" y="187452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Ограничение для проекта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713232" y="2347722"/>
            <a:ext cx="1078992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41173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03704" y="241173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стабильные видеоконференции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61304" y="241173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постоянного контекста чатов и системы друзей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13232" y="2884932"/>
            <a:ext cx="1078992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294894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294894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сообщества, каналы, голосовая связь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61304" y="294894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избыточная сложность и зависимость от внешней платформы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713232" y="3422142"/>
            <a:ext cx="1078992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348615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Meet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03704" y="348615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быстрый вход во встречу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348615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фокус на сессии, а не на постоянной коммуникации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731520" y="4434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 для разработки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786384" y="493776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объединить переписку, видеосвязь, друзей и роли в одном веб-приложении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786384" y="533095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оставить интерфейс проще корпоративных платформ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786384" y="572414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сделать модерацию и администрирование частью основной системы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Функциональные возможности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поддерживает сценарии гостя, пользователя, модератора и администратора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9808" y="17373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20848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регистрация, email-подтверждение, восстановление пароля</a:t>
            </a:r>
            <a:endParaRPr lang="en-US" sz="157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профиль, аватар, оформление и список друзей</a:t>
            </a:r>
            <a:endParaRPr lang="en-US" sz="1570" dirty="0"/>
          </a:p>
        </p:txBody>
      </p:sp>
      <p:sp>
        <p:nvSpPr>
          <p:cNvPr id="8" name="Text 6"/>
          <p:cNvSpPr/>
          <p:nvPr/>
        </p:nvSpPr>
        <p:spPr>
          <a:xfrm>
            <a:off x="777240" y="29992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личные и групповые чаты</a:t>
            </a:r>
            <a:endParaRPr lang="en-US" sz="1570" dirty="0"/>
          </a:p>
        </p:txBody>
      </p:sp>
      <p:sp>
        <p:nvSpPr>
          <p:cNvPr id="9" name="Text 7"/>
          <p:cNvSpPr/>
          <p:nvPr/>
        </p:nvSpPr>
        <p:spPr>
          <a:xfrm>
            <a:off x="6309360" y="17373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КОММУНИКАЦИЯ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327648" y="20848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сообщения, ответы, пересылка, удаление и закрепление</a:t>
            </a:r>
            <a:endParaRPr lang="en-US" sz="1570" dirty="0"/>
          </a:p>
        </p:txBody>
      </p:sp>
      <p:sp>
        <p:nvSpPr>
          <p:cNvPr id="11" name="Text 9"/>
          <p:cNvSpPr/>
          <p:nvPr/>
        </p:nvSpPr>
        <p:spPr>
          <a:xfrm>
            <a:off x="6327648" y="25420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файлы, стикеры, реакции, опросы и отложенные сообщения</a:t>
            </a:r>
            <a:endParaRPr lang="en-US" sz="1570" dirty="0"/>
          </a:p>
        </p:txBody>
      </p:sp>
      <p:sp>
        <p:nvSpPr>
          <p:cNvPr id="12" name="Text 10"/>
          <p:cNvSpPr/>
          <p:nvPr/>
        </p:nvSpPr>
        <p:spPr>
          <a:xfrm>
            <a:off x="6327648" y="29992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голосовые и видеозвонки</a:t>
            </a:r>
            <a:endParaRPr lang="en-US" sz="1570" dirty="0"/>
          </a:p>
        </p:txBody>
      </p:sp>
      <p:sp>
        <p:nvSpPr>
          <p:cNvPr id="13" name="Shape 11"/>
          <p:cNvSpPr/>
          <p:nvPr/>
        </p:nvSpPr>
        <p:spPr>
          <a:xfrm>
            <a:off x="749808" y="4069080"/>
            <a:ext cx="10607040" cy="0"/>
          </a:xfrm>
          <a:prstGeom prst="line">
            <a:avLst/>
          </a:prstGeom>
          <a:noFill/>
          <a:ln w="1143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443484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И КОНТРОЛЬ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77240" y="478231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ролевые права внутри чатов: member, trusted, moderator, owner</a:t>
            </a:r>
            <a:endParaRPr lang="en-US" sz="1570" dirty="0"/>
          </a:p>
        </p:txBody>
      </p:sp>
      <p:sp>
        <p:nvSpPr>
          <p:cNvPr id="16" name="Text 14"/>
          <p:cNvSpPr/>
          <p:nvPr/>
        </p:nvSpPr>
        <p:spPr>
          <a:xfrm>
            <a:off x="777240" y="5221224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жалобы, предупреждения, блокировки, журналы событий</a:t>
            </a:r>
            <a:endParaRPr lang="en-US" sz="1570" dirty="0"/>
          </a:p>
        </p:txBody>
      </p:sp>
      <p:sp>
        <p:nvSpPr>
          <p:cNvPr id="17" name="Text 15"/>
          <p:cNvSpPr/>
          <p:nvPr/>
        </p:nvSpPr>
        <p:spPr>
          <a:xfrm>
            <a:off x="777240" y="5660136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админ-панель для пользователей, чатов, рассылок и статистики</a:t>
            </a:r>
            <a:endParaRPr lang="en-US" sz="1570" dirty="0"/>
          </a:p>
        </p:txBody>
      </p:sp>
      <p:sp>
        <p:nvSpPr>
          <p:cNvPr id="18" name="Shape 16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решения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Клиент, API, база данных, хранилище и сервисы реального времени разделены по ответственности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1965960" cy="713232"/>
          </a:xfrm>
          <a:prstGeom prst="roundRect">
            <a:avLst>
              <a:gd name="adj" fmla="val 3846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984248"/>
            <a:ext cx="1709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TypeScript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703320" y="1874520"/>
            <a:ext cx="1965960" cy="713232"/>
          </a:xfrm>
          <a:prstGeom prst="roundRect">
            <a:avLst>
              <a:gd name="adj" fmla="val 3846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31336" y="1984248"/>
            <a:ext cx="1709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565392" y="1307592"/>
            <a:ext cx="201168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93408" y="141732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таблицы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565392" y="2441448"/>
            <a:ext cx="201168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3408" y="2551176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MinIO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медиафайлы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703320" y="3337560"/>
            <a:ext cx="196596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31336" y="3447288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события чатов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6565392" y="3337560"/>
            <a:ext cx="201168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93408" y="3447288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 / mediasoup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звонки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9281160" y="2331720"/>
            <a:ext cx="196596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09176" y="2441448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+ Nginx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развертывание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2788920" y="2231136"/>
            <a:ext cx="82296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27248" y="21214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15000" y="1737360"/>
            <a:ext cx="731520" cy="301752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07608" y="17785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15000" y="2386584"/>
            <a:ext cx="731520" cy="27432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07608" y="24140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633472"/>
            <a:ext cx="0" cy="59436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28392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715000" y="3657600"/>
            <a:ext cx="73152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07608" y="35478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686800" y="2743200"/>
            <a:ext cx="50292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5108" y="26334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4672" y="480060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→ Controllers → Services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22960" y="532180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REST API обслуживает бизнес-операции и проверку доступа</a:t>
            </a:r>
            <a:endParaRPr lang="en-US" sz="1470" dirty="0"/>
          </a:p>
        </p:txBody>
      </p:sp>
      <p:sp>
        <p:nvSpPr>
          <p:cNvPr id="33" name="Text 31"/>
          <p:cNvSpPr/>
          <p:nvPr/>
        </p:nvSpPr>
        <p:spPr>
          <a:xfrm>
            <a:off x="822960" y="565099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Socket.IO доставляет сообщения, реакции и системные события без опроса сервера</a:t>
            </a:r>
            <a:endParaRPr lang="en-US" sz="1470" dirty="0"/>
          </a:p>
        </p:txBody>
      </p:sp>
      <p:sp>
        <p:nvSpPr>
          <p:cNvPr id="34" name="Text 32"/>
          <p:cNvSpPr/>
          <p:nvPr/>
        </p:nvSpPr>
        <p:spPr>
          <a:xfrm>
            <a:off x="822960" y="598017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Docker Compose обеспечивает воспроизводимое окружение</a:t>
            </a:r>
            <a:endParaRPr lang="en-US" sz="1470" dirty="0"/>
          </a:p>
        </p:txBody>
      </p:sp>
      <p:sp>
        <p:nvSpPr>
          <p:cNvPr id="35" name="Shape 33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и безопасность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данных поддерживает коммуникацию, роли, модерацию и служебные процессы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таблицы PostgreSQL связаны внешними ключами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63240" y="1874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3063240" y="23774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логические группы данных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9808" y="3063240"/>
            <a:ext cx="4754880" cy="0"/>
          </a:xfrm>
          <a:prstGeom prst="line">
            <a:avLst/>
          </a:prstGeom>
          <a:noFill/>
          <a:ln w="1143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456432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основные сущности: users, profiles, roles, chats, friends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77240" y="384048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коммуникация: messages, reactions, mentions, reads, polls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7240" y="42245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модерация: reports, warnings, bans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77240" y="4608576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служебные таблицы: коды регистрации, сброс пароля, app_logs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46520" y="1874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МЕХАНИЗМЫ ЗАЩИТЫ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73952" y="22677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JWT access/refresh токены для HTTP и Socket.IO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6473952" y="27249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bcryptjs для хеширования паролей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6473952" y="31821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проверка ролей по актуальным данным БД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6473952" y="36393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email-коды регистрации и восстановления доступа</a:t>
            </a:r>
            <a:endParaRPr lang="en-US" sz="1520" dirty="0"/>
          </a:p>
        </p:txBody>
      </p:sp>
      <p:sp>
        <p:nvSpPr>
          <p:cNvPr id="19" name="Text 17"/>
          <p:cNvSpPr/>
          <p:nvPr/>
        </p:nvSpPr>
        <p:spPr>
          <a:xfrm>
            <a:off x="6473952" y="4096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валидация входных данных на уровне API и клиента</a:t>
            </a:r>
            <a:endParaRPr lang="en-US" sz="1520" dirty="0"/>
          </a:p>
        </p:txBody>
      </p:sp>
      <p:sp>
        <p:nvSpPr>
          <p:cNvPr id="20" name="Shape 18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Реальное время и видеосвязь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Критичные пользовательские действия выполняются без перезагрузки страницы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9808" y="1783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ОТПРАВКА СООБЩЕНИЯ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2212848"/>
            <a:ext cx="1417320" cy="475488"/>
          </a:xfrm>
          <a:prstGeom prst="roundRect">
            <a:avLst>
              <a:gd name="adj" fmla="val 5769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2322576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2221992" y="2450592"/>
            <a:ext cx="402336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50008" y="23408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97480" y="2212848"/>
            <a:ext cx="1417320" cy="475488"/>
          </a:xfrm>
          <a:prstGeom prst="roundRect">
            <a:avLst>
              <a:gd name="adj" fmla="val 5769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25496" y="2322576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прав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4142232" y="2450592"/>
            <a:ext cx="402336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0248" y="23408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2212848"/>
            <a:ext cx="1417320" cy="475488"/>
          </a:xfrm>
          <a:prstGeom prst="roundRect">
            <a:avLst>
              <a:gd name="adj" fmla="val 5769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45736" y="2322576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в БД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6062472" y="2450592"/>
            <a:ext cx="402336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0488" y="23408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37960" y="2212848"/>
            <a:ext cx="1417320" cy="475488"/>
          </a:xfrm>
          <a:prstGeom prst="roundRect">
            <a:avLst>
              <a:gd name="adj" fmla="val 5769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65976" y="2322576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room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7982712" y="2450592"/>
            <a:ext cx="402336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10728" y="23408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58200" y="2212848"/>
            <a:ext cx="1417320" cy="475488"/>
          </a:xfrm>
          <a:prstGeom prst="roundRect">
            <a:avLst>
              <a:gd name="adj" fmla="val 5769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86216" y="2322576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обновление UI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822960" y="318211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сервер сохраняет сообщение и рассылает событие только участникам chat_id</a:t>
            </a:r>
            <a:endParaRPr lang="en-US" sz="1520" dirty="0"/>
          </a:p>
        </p:txBody>
      </p:sp>
      <p:sp>
        <p:nvSpPr>
          <p:cNvPr id="25" name="Text 23"/>
          <p:cNvSpPr/>
          <p:nvPr/>
        </p:nvSpPr>
        <p:spPr>
          <a:xfrm>
            <a:off x="822960" y="356616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реакции, удаления и системные уведомления синхронизируются тем же каналом</a:t>
            </a:r>
            <a:endParaRPr lang="en-US" sz="1520" dirty="0"/>
          </a:p>
        </p:txBody>
      </p:sp>
      <p:sp>
        <p:nvSpPr>
          <p:cNvPr id="26" name="Shape 24"/>
          <p:cNvSpPr/>
          <p:nvPr/>
        </p:nvSpPr>
        <p:spPr>
          <a:xfrm>
            <a:off x="749808" y="4069080"/>
            <a:ext cx="10652760" cy="0"/>
          </a:xfrm>
          <a:prstGeom prst="line">
            <a:avLst/>
          </a:prstGeom>
          <a:noFill/>
          <a:ln w="11430">
            <a:solidFill>
              <a:srgbClr val="E8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437083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ОПТИМИЗАЦИЯ ВИДЕОЗВОНКА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22960" y="471830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сбор RTT, джиттера, потери пакетов и пропускной способности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822960" y="51023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прогноз деградации сети на 2 секунды вперед</a:t>
            </a:r>
            <a:endParaRPr lang="en-US" sz="1520" dirty="0"/>
          </a:p>
        </p:txBody>
      </p:sp>
      <p:sp>
        <p:nvSpPr>
          <p:cNvPr id="30" name="Text 28"/>
          <p:cNvSpPr/>
          <p:nvPr/>
        </p:nvSpPr>
        <p:spPr>
          <a:xfrm>
            <a:off x="822960" y="54864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при риске сбоя битрейт снижается до 500 кбит/с, затем плавно восстанавливается</a:t>
            </a:r>
            <a:endParaRPr lang="en-US" sz="1520" dirty="0"/>
          </a:p>
        </p:txBody>
      </p:sp>
      <p:sp>
        <p:nvSpPr>
          <p:cNvPr id="31" name="Shape 29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 пользователя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Основной экран объединяет навигацию, переписку, медиа и управление профилем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737360"/>
            <a:ext cx="5166360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8E8E8"/>
            </a:solidFill>
            <a:prstDash val="solid"/>
          </a:ln>
        </p:spPr>
      </p:sp>
      <p:pic>
        <p:nvPicPr>
          <p:cNvPr id="6" name="Image 0" descr="E:\1LABS\kp\nodekursproj-main1\.codex_doc_work\zapiska_media\image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41194"/>
            <a:ext cx="5166360" cy="23240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4160520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рабочая область и чат</a:t>
            </a:r>
            <a:endParaRPr lang="en-US" sz="880" dirty="0"/>
          </a:p>
        </p:txBody>
      </p:sp>
      <p:sp>
        <p:nvSpPr>
          <p:cNvPr id="8" name="Shape 5"/>
          <p:cNvSpPr/>
          <p:nvPr/>
        </p:nvSpPr>
        <p:spPr>
          <a:xfrm>
            <a:off x="6263640" y="1737360"/>
            <a:ext cx="2286000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8E8E8"/>
            </a:solidFill>
            <a:prstDash val="solid"/>
          </a:ln>
        </p:spPr>
      </p:sp>
      <p:pic>
        <p:nvPicPr>
          <p:cNvPr id="9" name="Image 1" descr="E:\1LABS\kp\nodekursproj-main1\.codex_doc_work\zapiska_media\image4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321694"/>
            <a:ext cx="2286000" cy="116305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63640" y="4160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Медиа и видеосценарии</a:t>
            </a:r>
            <a:endParaRPr lang="en-US" sz="880" dirty="0"/>
          </a:p>
        </p:txBody>
      </p:sp>
      <p:sp>
        <p:nvSpPr>
          <p:cNvPr id="11" name="Shape 7"/>
          <p:cNvSpPr/>
          <p:nvPr/>
        </p:nvSpPr>
        <p:spPr>
          <a:xfrm>
            <a:off x="8915400" y="1737360"/>
            <a:ext cx="2286000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8E8E8"/>
            </a:solidFill>
            <a:prstDash val="solid"/>
          </a:ln>
        </p:spPr>
      </p:sp>
      <p:pic>
        <p:nvPicPr>
          <p:cNvPr id="12" name="Image 2" descr="E:\1LABS\kp\nodekursproj-main1\.codex_doc_work\zapiska_media\image4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1874653"/>
            <a:ext cx="2286000" cy="205713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160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Настройка профиля</a:t>
            </a:r>
            <a:endParaRPr lang="en-US" sz="880" dirty="0"/>
          </a:p>
        </p:txBody>
      </p:sp>
      <p:sp>
        <p:nvSpPr>
          <p:cNvPr id="14" name="Text 9"/>
          <p:cNvSpPr/>
          <p:nvPr/>
        </p:nvSpPr>
        <p:spPr>
          <a:xfrm>
            <a:off x="777240" y="489204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слева: чаты, друзья, входящие заявки и поиск пользователей</a:t>
            </a:r>
            <a:endParaRPr lang="en-US" sz="1480" dirty="0"/>
          </a:p>
        </p:txBody>
      </p:sp>
      <p:sp>
        <p:nvSpPr>
          <p:cNvPr id="15" name="Text 10"/>
          <p:cNvSpPr/>
          <p:nvPr/>
        </p:nvSpPr>
        <p:spPr>
          <a:xfrm>
            <a:off x="777240" y="523951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 центре: переписка, вложения, реакции, стикеры и действия над сообщениями</a:t>
            </a:r>
            <a:endParaRPr lang="en-US" sz="1480" dirty="0"/>
          </a:p>
        </p:txBody>
      </p:sp>
      <p:sp>
        <p:nvSpPr>
          <p:cNvPr id="16" name="Text 11"/>
          <p:cNvSpPr/>
          <p:nvPr/>
        </p:nvSpPr>
        <p:spPr>
          <a:xfrm>
            <a:off x="777240" y="5586984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 профиле: аватар, фон, цвета, бейджи и смена пароля</a:t>
            </a:r>
            <a:endParaRPr lang="en-US" sz="1480" dirty="0"/>
          </a:p>
        </p:txBody>
      </p:sp>
      <p:sp>
        <p:nvSpPr>
          <p:cNvPr id="17" name="Shape 12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Модерация и администрирование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Ролевой контроль встроен в бизнес-логику сервера и пользовательский интерфейс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737360"/>
            <a:ext cx="338328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8E8E8"/>
            </a:solidFill>
            <a:prstDash val="solid"/>
          </a:ln>
        </p:spPr>
      </p:sp>
      <p:pic>
        <p:nvPicPr>
          <p:cNvPr id="6" name="Image 0" descr="E:\1LABS\kp\nodekursproj-main1\.codex_doc_work\zapiska_media\image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40868"/>
            <a:ext cx="3383280" cy="14560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434840" y="1737360"/>
            <a:ext cx="338328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8E8E8"/>
            </a:solidFill>
            <a:prstDash val="solid"/>
          </a:ln>
        </p:spPr>
      </p:sp>
      <p:pic>
        <p:nvPicPr>
          <p:cNvPr id="8" name="Image 1" descr="E:\1LABS\kp\nodekursproj-main1\.codex_doc_work\zapiska_media\image5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772014"/>
            <a:ext cx="3383280" cy="139373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156448" y="1737360"/>
            <a:ext cx="338328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8E8E8"/>
            </a:solidFill>
            <a:prstDash val="solid"/>
          </a:ln>
        </p:spPr>
      </p:sp>
      <p:pic>
        <p:nvPicPr>
          <p:cNvPr id="10" name="Image 2" descr="E:\1LABS\kp\nodekursproj-main1\.codex_doc_work\zapiska_media\image5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48" y="1998553"/>
            <a:ext cx="3383280" cy="94065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3232" y="32918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Панель модератора</a:t>
            </a:r>
            <a:endParaRPr lang="en-US" sz="880" dirty="0"/>
          </a:p>
        </p:txBody>
      </p:sp>
      <p:sp>
        <p:nvSpPr>
          <p:cNvPr id="12" name="Text 7"/>
          <p:cNvSpPr/>
          <p:nvPr/>
        </p:nvSpPr>
        <p:spPr>
          <a:xfrm>
            <a:off x="4434840" y="32918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пользователями</a:t>
            </a:r>
            <a:endParaRPr lang="en-US" sz="880" dirty="0"/>
          </a:p>
        </p:txBody>
      </p:sp>
      <p:sp>
        <p:nvSpPr>
          <p:cNvPr id="13" name="Text 8"/>
          <p:cNvSpPr/>
          <p:nvPr/>
        </p:nvSpPr>
        <p:spPr>
          <a:xfrm>
            <a:off x="8156448" y="32918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Статистика приложения</a:t>
            </a:r>
            <a:endParaRPr lang="en-US" sz="880" dirty="0"/>
          </a:p>
        </p:txBody>
      </p:sp>
      <p:sp>
        <p:nvSpPr>
          <p:cNvPr id="14" name="Text 9"/>
          <p:cNvSpPr/>
          <p:nvPr/>
        </p:nvSpPr>
        <p:spPr>
          <a:xfrm>
            <a:off x="749808" y="41605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РОЛИ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777240" y="451713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гость: регистрация и вход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777240" y="4846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пользователь: чаты, друзья, профиль, звонки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777240" y="517550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модератор: жалобы, предупреждения, блокировки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777240" y="55046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администратор: пользователи, чаты, рассылки, статистика, логи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46520" y="41605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КЛЮЧЕВОЙ ПРИНЦИП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6473952" y="4526280"/>
            <a:ext cx="47548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Права доступа проверяются на сервере при каждом запросе. Это исключает обход ограничений через устаревший токен или подмену состояния на клиенте.</a:t>
            </a:r>
            <a:endParaRPr lang="en-US" sz="1520" dirty="0"/>
          </a:p>
        </p:txBody>
      </p:sp>
      <p:sp>
        <p:nvSpPr>
          <p:cNvPr id="21" name="Shape 16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БГТУ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веб-приложения Lume для видеозвонков и обмена сообщениями</dc:title>
  <dc:subject>Презентация для защиты дипломного проекта</dc:subject>
  <dc:creator>Шатерник Глеб</dc:creator>
  <cp:lastModifiedBy>Шатерник Глеб</cp:lastModifiedBy>
  <cp:revision>1</cp:revision>
  <dcterms:created xsi:type="dcterms:W3CDTF">2026-05-25T01:53:52Z</dcterms:created>
  <dcterms:modified xsi:type="dcterms:W3CDTF">2026-05-25T01:53:52Z</dcterms:modified>
</cp:coreProperties>
</file>