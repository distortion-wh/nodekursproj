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20479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Время: 0:00-0:30.
Уважаемые члены комиссии, тема моего дипломного проекта - разработка веб-приложения Lume для видеозвонков и обмена сообщениями. В докладе я кратко покажу актуальность задачи, архитектуру, основные функции, результаты тестирования и экономическое обоснование проекта.</a:t>
            </a: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Время: 0:30-1:10.
Актуальность проекта связана с тем, что пользователям нужна единая среда для коммуникации: не только сообщения, но и файлы, звонки, управление доступом и модерация. Целью работы стала разработка веб-приложения Lume, которое объединяет эти сценарии в браузере и может применяться индивидуальными пользователями, учебными группами и небольшими командами.</a:t>
            </a: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Время: 1:10-1:45.
Для достижения цели были поставлены шесть задач. Сначала я изучил существующие решения, затем спроектировал требования, архитектуру, базу данных и интерфейс. После этого были реализованы клиентская и серверная части, выполнено тестирование, подготовлено руководство пользователя и рассчитаны экономические показатели.</a:t>
            </a: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Время: 1:45-2:25.
В аналитическом разделе были рассмотрены Zoom, Discord и Google Meet. Zoom силен в видеоконференциях, но не закрывает постоянные чаты и социальную модель. Discord лучше подходит для сообществ, но сложен и остается внешней платформой. Google Meet удобен для встреч, но не решает задачу постоянного обмена сообщениями. Поэтому Lume строился как объединение сообщений, звонков, друзей, ролей и модерации в одном веб-приложении.</a:t>
            </a: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Время: 2:25-3:05.
Функционально приложение закрывает основные сценарии коммуникации. Пользователь может зарегистрироваться, подтвердить email, настроить профиль, добавить друзей, вести личные и групповые чаты. В сообщениях реализованы ответы, пересылка, реакции, стикеры, файлы, опросы и отложенная отправка. Для контроля порядка предусмотрены роли внутри чатов, жалобы, предупреждения, блокировки, журналы событий и административная панель.</a:t>
            </a: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Время: 3:05-3:55.
Архитектура разделена на клиентскую часть, серверный API, базу данных, объектное хранилище и сервисы реального времени. Клиент написан на React и TypeScript. Серверная часть использует Node.js и Express, а внутри разделена на маршруты, контроллеры и сервисы. PostgreSQL хранит основные данные, MinIO вынесен для медиафайлов. Socket.IO отвечает за события чатов, WebRTC и mediasoup - за звонки. Для развертывания подготовлены Docker, Docker Compose и Nginx.</a:t>
            </a: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Время: 3:55-4:35.
База данных включает 22 таблицы, объединенные внешними ключами. Их можно разделить на четыре группы: основные таблицы пользователей, ролей, чатов и друзей; таблицы коммуникации; таблицы модерации; служебные таблицы для кодов подтверждения и журналов. Безопасность обеспечивается JWT-токенами, хешированием паролей через bcryptjs, проверкой ролей по актуальным данным базы, email-подтверждением и валидацией входных данных.</a:t>
            </a: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Время: 4:35-5:15.
Для обмена сообщениями используется событийная модель Socket.IO. При отправке сообщения сервер проверяет токен и права пользователя, сохраняет запись в PostgreSQL и рассылает событие только участникам нужной комнаты. Для видеосвязи реализована логика мониторинга качества соединения: анализируются RTT, джиттер, потери пакетов и пропускная способность. При прогнозируемой деградации битрейт снижается, а после стабилизации плавно восстанавливается.</a:t>
            </a: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Время: 5:15-5:55.
На слайде показан пользовательский интерфейс. После входа пользователь видит рабочую область с навигацией по чатам и друзьям, область переписки и панель действий. Через интерфейс можно отправлять сообщения, файлы, реакции, стикеры, работать с медиа и управлять профилем. Отдельное внимание уделено персонализации профиля, чтобы пользователь мог настроить внешний вид и данные аккаунта.</a:t>
            </a: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Время: 5:55-6:30.
В системе предусмотрены четыре роли: гость, пользователь, модератор и администратор. Модератор обрабатывает жалобы, выдает предупреждения и блокирует нарушителей. Администратор дополнительно управляет пользователями, чатами, рассылками, статистикой и логами. Важный момент - права проверяются на сервере по актуальным данным базы, поэтому клиент не может самостоятельно повысить привилегии.</a:t>
            </a: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Время: 6:30-7:10.
Для проверки были выполнены негативные и функциональные тесты. Негативное тестирование включало ошибки входа, регистрации, создания чата, отправки сообщений, загрузки файлов и доступа к административным маршрутам. Всего проведен 41 функциональный тест. Проверки подтвердили корректную работу регистрации, авторизации, сообщений, ролей, WebRTC-звонков и механизмов восстановления соединения.</a:t>
            </a: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Время: 7:10-7:55.
В экономическом разделе рассчитана полная себестоимость разработки и первичного сопровождения - 18 146 рублей 60 копеек. Анализ аналогичных проектов показал минимальную рыночную оценку 26 526 рублей 50 копеек и среднюю цену 32 091 рубль 75 копеек. Цена продажи с НДС принята 28 308 рублей 70 копеек. Прибыль составляет 5 443 рубля 98 копеек, рентабельность - 30 процентов, чистая прибыль - 4 355 рублей 18 копеек. Это подтверждает экономическую целесообразность проекта.</a:t>
            </a: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Время: 7:55-8:15.
В результате работы цель дипломного проекта достигнута: разработано веб-приложение Lume для видеозвонков и обмена сообщениями. Были выполнены анализ, проектирование, реализация, тестирование, руководство пользователя и экономическое обоснование. Проект может использоваться как основа для дальнейшего развития коммуникационной платформы. Спасибо за внимание, готов ответить на вопросы.</a:t>
            </a: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БГТУ | дипломный проект | 2026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658368" y="987552"/>
            <a:ext cx="219456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298448"/>
            <a:ext cx="99669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Разработка веб-приложения</a:t>
            </a:r>
            <a:endParaRPr lang="en-US" sz="3500" dirty="0"/>
          </a:p>
          <a:p>
            <a:pPr marL="0" indent="0">
              <a:buNone/>
            </a:pPr>
            <a:r>
              <a:rPr lang="en-US" sz="3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«Lume» для видеозвонков</a:t>
            </a:r>
            <a:endParaRPr lang="en-US" sz="3500" dirty="0"/>
          </a:p>
          <a:p>
            <a:pPr marL="0" indent="0">
              <a:buNone/>
            </a:pPr>
            <a:r>
              <a:rPr lang="en-US" sz="3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обмена сообщениями</a:t>
            </a:r>
            <a:endParaRPr lang="en-US" sz="3500" dirty="0"/>
          </a:p>
        </p:txBody>
      </p:sp>
      <p:sp>
        <p:nvSpPr>
          <p:cNvPr id="5" name="Text 3"/>
          <p:cNvSpPr/>
          <p:nvPr/>
        </p:nvSpPr>
        <p:spPr>
          <a:xfrm>
            <a:off x="694944" y="3895344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+ TypeScript / Node.js + Express / PostgreSQL / Socket.IO / WebRTC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94944" y="5486400"/>
            <a:ext cx="4297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Студент: Шатерник Глеб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738360" y="533095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LUME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549640" y="5870448"/>
            <a:ext cx="2880360" cy="0"/>
          </a:xfrm>
          <a:prstGeom prst="line">
            <a:avLst/>
          </a:prstGeom>
          <a:noFill/>
          <a:ln w="13970">
            <a:solidFill>
              <a:srgbClr val="111111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Актуальность и цель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58368" y="1106424"/>
            <a:ext cx="182880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24358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 решает задачу единой управляемой среды цифрового общения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13232" y="188366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это важно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749808" y="265176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цифровая коммуникация требует переписки, звонков и обмена файлами в одном окне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49808" y="3310128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сторонние платформы ограничивают контроль над данными, ролями и правилами доступа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49808" y="3968496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для учебных групп, команд и сообществ важны простота, безопасность и управляемость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537960" y="1828800"/>
            <a:ext cx="0" cy="347472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03720" y="1656319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 РАЗРАБОТКИ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903720" y="2221992"/>
            <a:ext cx="4434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Разработать веб-приложение «Lume» для личного и группового общения пользователей с поддержкой сообщений, файлов, голосовых и видеозвонков, системы друзей, персонализации профиля, модерации и администрирования.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711697" y="4434840"/>
            <a:ext cx="1261870" cy="384048"/>
          </a:xfrm>
          <a:prstGeom prst="roundRect">
            <a:avLst>
              <a:gd name="adj" fmla="val 7143"/>
            </a:avLst>
          </a:prstGeom>
          <a:solidFill>
            <a:srgbClr val="FFFFFF">
              <a:alpha val="0"/>
            </a:srgbClr>
          </a:solidFill>
          <a:ln w="10160">
            <a:solidFill>
              <a:srgbClr val="CFCFC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61005" y="4526280"/>
            <a:ext cx="9402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сообщения</a:t>
            </a:r>
            <a:endParaRPr lang="en-US" sz="1070" dirty="0"/>
          </a:p>
        </p:txBody>
      </p:sp>
      <p:sp>
        <p:nvSpPr>
          <p:cNvPr id="14" name="Shape 12"/>
          <p:cNvSpPr/>
          <p:nvPr/>
        </p:nvSpPr>
        <p:spPr>
          <a:xfrm>
            <a:off x="8010144" y="4434840"/>
            <a:ext cx="932688" cy="384048"/>
          </a:xfrm>
          <a:prstGeom prst="roundRect">
            <a:avLst>
              <a:gd name="adj" fmla="val 7143"/>
            </a:avLst>
          </a:prstGeom>
          <a:solidFill>
            <a:srgbClr val="FFFFFF">
              <a:alpha val="0"/>
            </a:srgbClr>
          </a:solidFill>
          <a:ln w="10160">
            <a:solidFill>
              <a:srgbClr val="CFCFC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94729" y="4544030"/>
            <a:ext cx="454960" cy="1644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файлы</a:t>
            </a:r>
            <a:endParaRPr lang="en-US" sz="1070" dirty="0"/>
          </a:p>
        </p:txBody>
      </p:sp>
      <p:sp>
        <p:nvSpPr>
          <p:cNvPr id="16" name="Shape 14"/>
          <p:cNvSpPr/>
          <p:nvPr/>
        </p:nvSpPr>
        <p:spPr>
          <a:xfrm>
            <a:off x="9119615" y="4434840"/>
            <a:ext cx="932688" cy="384048"/>
          </a:xfrm>
          <a:prstGeom prst="roundRect">
            <a:avLst>
              <a:gd name="adj" fmla="val 7143"/>
            </a:avLst>
          </a:prstGeom>
          <a:solidFill>
            <a:srgbClr val="FFFFFF">
              <a:alpha val="0"/>
            </a:srgbClr>
          </a:solidFill>
          <a:ln w="10160">
            <a:solidFill>
              <a:srgbClr val="CFCFC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74302" y="4525384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звонки</a:t>
            </a:r>
            <a:endParaRPr lang="en-US" sz="1070" dirty="0"/>
          </a:p>
        </p:txBody>
      </p:sp>
      <p:sp>
        <p:nvSpPr>
          <p:cNvPr id="18" name="Shape 16"/>
          <p:cNvSpPr/>
          <p:nvPr/>
        </p:nvSpPr>
        <p:spPr>
          <a:xfrm>
            <a:off x="10204704" y="4434840"/>
            <a:ext cx="1133856" cy="384048"/>
          </a:xfrm>
          <a:prstGeom prst="roundRect">
            <a:avLst>
              <a:gd name="adj" fmla="val 7143"/>
            </a:avLst>
          </a:prstGeom>
          <a:solidFill>
            <a:srgbClr val="FFFFFF">
              <a:alpha val="0"/>
            </a:srgbClr>
          </a:solidFill>
          <a:ln w="10160">
            <a:solidFill>
              <a:srgbClr val="CFCFC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335051" y="4516957"/>
            <a:ext cx="87316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модерация</a:t>
            </a:r>
            <a:endParaRPr lang="en-US" sz="1070" dirty="0"/>
          </a:p>
        </p:txBody>
      </p:sp>
      <p:sp>
        <p:nvSpPr>
          <p:cNvPr id="20" name="Shape 18"/>
          <p:cNvSpPr/>
          <p:nvPr/>
        </p:nvSpPr>
        <p:spPr>
          <a:xfrm>
            <a:off x="502920" y="6336792"/>
            <a:ext cx="11201400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109960" y="638251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Задачи дипломного проекта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58368" y="1106424"/>
            <a:ext cx="182880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24358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Работа охватила полный цикл: от анализа аналогов до экономического обоснования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49808" y="1783080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874520" y="1764792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Проанализировать аналоги: Zoom, Discord, Google Meet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49808" y="2441448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874520" y="242316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Сформировать требования и спроектировать архитектуру приложения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49808" y="3099816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874520" y="3081528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Разработать структуру базы данных и пользовательский интерфейс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49808" y="3758184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874520" y="3739896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Реализовать клиентскую и серверную части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49808" y="4416552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874520" y="4398264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Проверить работоспособность ключевых функций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49808" y="5074920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874520" y="5056632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Подготовить руководство пользователя и экономический расчет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502920" y="6336792"/>
            <a:ext cx="11201400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109960" y="638251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Анализ аналогов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58368" y="1106424"/>
            <a:ext cx="182880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24358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 сравнения выделены функции, которые должны быть объединены в Lume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13232" y="1810512"/>
            <a:ext cx="10789920" cy="2148840"/>
          </a:xfrm>
          <a:prstGeom prst="rect">
            <a:avLst/>
          </a:prstGeom>
          <a:solidFill>
            <a:srgbClr val="FFFFFF">
              <a:alpha val="0"/>
            </a:srgbClr>
          </a:solidFill>
          <a:ln w="7620">
            <a:solidFill>
              <a:srgbClr val="D0D0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810512"/>
            <a:ext cx="10789920" cy="53721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1874520"/>
            <a:ext cx="1271016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Аналог</a:t>
            </a:r>
            <a:endParaRPr lang="en-US" sz="1140" dirty="0"/>
          </a:p>
        </p:txBody>
      </p:sp>
      <p:sp>
        <p:nvSpPr>
          <p:cNvPr id="8" name="Shape 6"/>
          <p:cNvSpPr/>
          <p:nvPr/>
        </p:nvSpPr>
        <p:spPr>
          <a:xfrm>
            <a:off x="2130552" y="1810512"/>
            <a:ext cx="0" cy="214884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03704" y="1874520"/>
            <a:ext cx="3511296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Сильная сторона</a:t>
            </a:r>
            <a:endParaRPr lang="en-US" sz="1140" dirty="0"/>
          </a:p>
        </p:txBody>
      </p:sp>
      <p:sp>
        <p:nvSpPr>
          <p:cNvPr id="10" name="Shape 8"/>
          <p:cNvSpPr/>
          <p:nvPr/>
        </p:nvSpPr>
        <p:spPr>
          <a:xfrm>
            <a:off x="5788152" y="1810512"/>
            <a:ext cx="0" cy="214884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61304" y="1874520"/>
            <a:ext cx="5568696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Ограничение для проекта</a:t>
            </a:r>
            <a:endParaRPr lang="en-US" sz="1140" dirty="0"/>
          </a:p>
        </p:txBody>
      </p:sp>
      <p:sp>
        <p:nvSpPr>
          <p:cNvPr id="12" name="Shape 10"/>
          <p:cNvSpPr/>
          <p:nvPr/>
        </p:nvSpPr>
        <p:spPr>
          <a:xfrm>
            <a:off x="713232" y="2347722"/>
            <a:ext cx="10789920" cy="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" y="2411730"/>
            <a:ext cx="1271016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Zoom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2130552" y="1810512"/>
            <a:ext cx="0" cy="214884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03704" y="2411730"/>
            <a:ext cx="3511296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стабильные видеоконференции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5788152" y="1810512"/>
            <a:ext cx="0" cy="214884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61304" y="2411730"/>
            <a:ext cx="5568696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 постоянного контекста чатов и системы друзей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713232" y="2884932"/>
            <a:ext cx="10789920" cy="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6384" y="2948940"/>
            <a:ext cx="1271016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Discord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2130552" y="1810512"/>
            <a:ext cx="0" cy="214884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2948940"/>
            <a:ext cx="3511296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сообщества, каналы, голосовая связь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5788152" y="1810512"/>
            <a:ext cx="0" cy="214884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61304" y="2948940"/>
            <a:ext cx="5568696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избыточная сложность и зависимость от внешней платформы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713232" y="3422142"/>
            <a:ext cx="10789920" cy="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6384" y="3486150"/>
            <a:ext cx="1271016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Meet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2130552" y="1810512"/>
            <a:ext cx="0" cy="214884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03704" y="3486150"/>
            <a:ext cx="3511296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быстрый вход во встречу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5788152" y="1810512"/>
            <a:ext cx="0" cy="214884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61304" y="3486150"/>
            <a:ext cx="5568696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фокус на сессии, а не на постоянной коммуникации</a:t>
            </a:r>
            <a:endParaRPr lang="en-US" sz="1080" dirty="0"/>
          </a:p>
        </p:txBody>
      </p:sp>
      <p:sp>
        <p:nvSpPr>
          <p:cNvPr id="30" name="Text 28"/>
          <p:cNvSpPr/>
          <p:nvPr/>
        </p:nvSpPr>
        <p:spPr>
          <a:xfrm>
            <a:off x="731520" y="443484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Вывод для разработки</a:t>
            </a:r>
            <a:endParaRPr lang="en-US" sz="2300" dirty="0"/>
          </a:p>
        </p:txBody>
      </p:sp>
      <p:sp>
        <p:nvSpPr>
          <p:cNvPr id="31" name="Text 29"/>
          <p:cNvSpPr/>
          <p:nvPr/>
        </p:nvSpPr>
        <p:spPr>
          <a:xfrm>
            <a:off x="786384" y="4937760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объединить переписку, видеосвязь, друзей и роли в одном веб-приложении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786384" y="5330952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оставить интерфейс проще корпоративных платформ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786384" y="5724144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сделать модерацию и администрирование частью основной системы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502920" y="6336792"/>
            <a:ext cx="11201400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109960" y="638251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Функциональные возможности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58368" y="1106424"/>
            <a:ext cx="182880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24358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Система поддерживает сценарии гостя, пользователя, модератора и администратора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49808" y="173736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ПОЛЬЗОВАТЕЛЬ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77240" y="208483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регистрация, email-подтверждение, восстановление пароля</a:t>
            </a:r>
            <a:endParaRPr lang="en-US" sz="1570" dirty="0"/>
          </a:p>
        </p:txBody>
      </p:sp>
      <p:sp>
        <p:nvSpPr>
          <p:cNvPr id="7" name="Text 5"/>
          <p:cNvSpPr/>
          <p:nvPr/>
        </p:nvSpPr>
        <p:spPr>
          <a:xfrm>
            <a:off x="777240" y="254203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профиль, аватар, оформление и список друзей</a:t>
            </a:r>
            <a:endParaRPr lang="en-US" sz="1570" dirty="0"/>
          </a:p>
        </p:txBody>
      </p:sp>
      <p:sp>
        <p:nvSpPr>
          <p:cNvPr id="8" name="Text 6"/>
          <p:cNvSpPr/>
          <p:nvPr/>
        </p:nvSpPr>
        <p:spPr>
          <a:xfrm>
            <a:off x="777240" y="299923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личные и групповые чаты</a:t>
            </a:r>
            <a:endParaRPr lang="en-US" sz="1570" dirty="0"/>
          </a:p>
        </p:txBody>
      </p:sp>
      <p:sp>
        <p:nvSpPr>
          <p:cNvPr id="9" name="Text 7"/>
          <p:cNvSpPr/>
          <p:nvPr/>
        </p:nvSpPr>
        <p:spPr>
          <a:xfrm>
            <a:off x="6309360" y="173736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КОММУНИКАЦИЯ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327648" y="208483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сообщения, ответы, пересылка, удаление и закрепление</a:t>
            </a:r>
            <a:endParaRPr lang="en-US" sz="1570" dirty="0"/>
          </a:p>
        </p:txBody>
      </p:sp>
      <p:sp>
        <p:nvSpPr>
          <p:cNvPr id="11" name="Text 9"/>
          <p:cNvSpPr/>
          <p:nvPr/>
        </p:nvSpPr>
        <p:spPr>
          <a:xfrm>
            <a:off x="6327648" y="254203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файлы, стикеры, реакции, опросы и отложенные сообщения</a:t>
            </a:r>
            <a:endParaRPr lang="en-US" sz="1570" dirty="0"/>
          </a:p>
        </p:txBody>
      </p:sp>
      <p:sp>
        <p:nvSpPr>
          <p:cNvPr id="12" name="Text 10"/>
          <p:cNvSpPr/>
          <p:nvPr/>
        </p:nvSpPr>
        <p:spPr>
          <a:xfrm>
            <a:off x="6327648" y="299923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голосовые и видеозвонки</a:t>
            </a:r>
            <a:endParaRPr lang="en-US" sz="1570" dirty="0"/>
          </a:p>
        </p:txBody>
      </p:sp>
      <p:sp>
        <p:nvSpPr>
          <p:cNvPr id="13" name="Shape 11"/>
          <p:cNvSpPr/>
          <p:nvPr/>
        </p:nvSpPr>
        <p:spPr>
          <a:xfrm>
            <a:off x="749808" y="4069080"/>
            <a:ext cx="10607040" cy="0"/>
          </a:xfrm>
          <a:prstGeom prst="line">
            <a:avLst/>
          </a:prstGeom>
          <a:noFill/>
          <a:ln w="11430">
            <a:solidFill>
              <a:srgbClr val="E8E8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4434840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УПРАВЛЕНИЕ И КОНТРОЛЬ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77240" y="4782312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ролевые права внутри чатов: member, trusted, moderator, owner</a:t>
            </a:r>
            <a:endParaRPr lang="en-US" sz="1570" dirty="0"/>
          </a:p>
        </p:txBody>
      </p:sp>
      <p:sp>
        <p:nvSpPr>
          <p:cNvPr id="16" name="Text 14"/>
          <p:cNvSpPr/>
          <p:nvPr/>
        </p:nvSpPr>
        <p:spPr>
          <a:xfrm>
            <a:off x="777240" y="5221224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жалобы, предупреждения, блокировки, журналы событий</a:t>
            </a:r>
            <a:endParaRPr lang="en-US" sz="1570" dirty="0"/>
          </a:p>
        </p:txBody>
      </p:sp>
      <p:sp>
        <p:nvSpPr>
          <p:cNvPr id="17" name="Text 15"/>
          <p:cNvSpPr/>
          <p:nvPr/>
        </p:nvSpPr>
        <p:spPr>
          <a:xfrm>
            <a:off x="777240" y="5660136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админ-панель для пользователей, чатов, рассылок и статистики</a:t>
            </a:r>
            <a:endParaRPr lang="en-US" sz="1570" dirty="0"/>
          </a:p>
        </p:txBody>
      </p:sp>
      <p:sp>
        <p:nvSpPr>
          <p:cNvPr id="18" name="Shape 16"/>
          <p:cNvSpPr/>
          <p:nvPr/>
        </p:nvSpPr>
        <p:spPr>
          <a:xfrm>
            <a:off x="502920" y="6336792"/>
            <a:ext cx="11201400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109960" y="638251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Архитектура решения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58368" y="1106424"/>
            <a:ext cx="182880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24358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Клиент, API, база данных, хранилище и сервисы реального времени разделены по ответственности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77240" y="1874520"/>
            <a:ext cx="1965960" cy="713232"/>
          </a:xfrm>
          <a:prstGeom prst="roundRect">
            <a:avLst>
              <a:gd name="adj" fmla="val 3846"/>
            </a:avLst>
          </a:prstGeom>
          <a:solidFill>
            <a:srgbClr val="FFFFFF">
              <a:alpha val="0"/>
            </a:srgbClr>
          </a:solidFill>
          <a:ln w="10160">
            <a:solidFill>
              <a:srgbClr val="BDBDB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05256" y="1984248"/>
            <a:ext cx="1709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Клиент</a:t>
            </a:r>
            <a:endParaRPr lang="en-US" sz="1350" dirty="0"/>
          </a:p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 + TypeScript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703320" y="1874520"/>
            <a:ext cx="1965960" cy="713232"/>
          </a:xfrm>
          <a:prstGeom prst="roundRect">
            <a:avLst>
              <a:gd name="adj" fmla="val 3846"/>
            </a:avLst>
          </a:prstGeom>
          <a:solidFill>
            <a:srgbClr val="FFFFFF">
              <a:alpha val="0"/>
            </a:srgbClr>
          </a:solidFill>
          <a:ln w="10160">
            <a:solidFill>
              <a:srgbClr val="BDBDB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31336" y="1984248"/>
            <a:ext cx="1709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en-US" sz="1350" dirty="0"/>
          </a:p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+ Express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565392" y="1632204"/>
            <a:ext cx="2011680" cy="658368"/>
          </a:xfrm>
          <a:prstGeom prst="roundRect">
            <a:avLst>
              <a:gd name="adj" fmla="val 4167"/>
            </a:avLst>
          </a:prstGeom>
          <a:solidFill>
            <a:srgbClr val="FFFFFF">
              <a:alpha val="0"/>
            </a:srgbClr>
          </a:solidFill>
          <a:ln w="10160">
            <a:solidFill>
              <a:srgbClr val="BDBDB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93408" y="1723644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320" dirty="0"/>
          </a:p>
          <a:p>
            <a:pPr marL="0" indent="0">
              <a:buNone/>
            </a:pPr>
            <a:r>
              <a:rPr lang="en-US" sz="13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таблицы</a:t>
            </a:r>
            <a:endParaRPr lang="en-US" sz="1320" dirty="0"/>
          </a:p>
        </p:txBody>
      </p:sp>
      <p:sp>
        <p:nvSpPr>
          <p:cNvPr id="11" name="Shape 9"/>
          <p:cNvSpPr/>
          <p:nvPr/>
        </p:nvSpPr>
        <p:spPr>
          <a:xfrm>
            <a:off x="6565392" y="2441448"/>
            <a:ext cx="2011680" cy="658368"/>
          </a:xfrm>
          <a:prstGeom prst="roundRect">
            <a:avLst>
              <a:gd name="adj" fmla="val 4167"/>
            </a:avLst>
          </a:prstGeom>
          <a:solidFill>
            <a:srgbClr val="FFFFFF">
              <a:alpha val="0"/>
            </a:srgbClr>
          </a:solidFill>
          <a:ln w="10160">
            <a:solidFill>
              <a:srgbClr val="BDBDB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93408" y="2551176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MinIO</a:t>
            </a:r>
            <a:endParaRPr lang="en-US" sz="1320" dirty="0"/>
          </a:p>
          <a:p>
            <a:pPr marL="0" indent="0">
              <a:buNone/>
            </a:pPr>
            <a:r>
              <a:rPr lang="en-US" sz="13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медиафайлы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3703320" y="3337560"/>
            <a:ext cx="1965960" cy="658368"/>
          </a:xfrm>
          <a:prstGeom prst="roundRect">
            <a:avLst>
              <a:gd name="adj" fmla="val 4167"/>
            </a:avLst>
          </a:prstGeom>
          <a:solidFill>
            <a:srgbClr val="FFFFFF">
              <a:alpha val="0"/>
            </a:srgbClr>
          </a:solidFill>
          <a:ln w="10160">
            <a:solidFill>
              <a:srgbClr val="BDBDB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31336" y="3447288"/>
            <a:ext cx="1709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Socket.IO</a:t>
            </a:r>
            <a:endParaRPr lang="en-US" sz="1320" dirty="0"/>
          </a:p>
          <a:p>
            <a:pPr marL="0" indent="0">
              <a:buNone/>
            </a:pPr>
            <a:r>
              <a:rPr lang="en-US" sz="13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события чатов</a:t>
            </a:r>
            <a:endParaRPr lang="en-US" sz="1320" dirty="0"/>
          </a:p>
        </p:txBody>
      </p:sp>
      <p:sp>
        <p:nvSpPr>
          <p:cNvPr id="15" name="Shape 13"/>
          <p:cNvSpPr/>
          <p:nvPr/>
        </p:nvSpPr>
        <p:spPr>
          <a:xfrm>
            <a:off x="6565392" y="3337560"/>
            <a:ext cx="2011680" cy="658368"/>
          </a:xfrm>
          <a:prstGeom prst="roundRect">
            <a:avLst>
              <a:gd name="adj" fmla="val 4167"/>
            </a:avLst>
          </a:prstGeom>
          <a:solidFill>
            <a:srgbClr val="FFFFFF">
              <a:alpha val="0"/>
            </a:srgbClr>
          </a:solidFill>
          <a:ln w="10160">
            <a:solidFill>
              <a:srgbClr val="BDBDB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93408" y="3447288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WebRTC / mediasoup</a:t>
            </a:r>
            <a:endParaRPr lang="en-US" sz="1320" dirty="0"/>
          </a:p>
          <a:p>
            <a:pPr marL="0" indent="0">
              <a:buNone/>
            </a:pPr>
            <a:r>
              <a:rPr lang="en-US" sz="13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звонки</a:t>
            </a:r>
            <a:endParaRPr lang="en-US" sz="1320" dirty="0"/>
          </a:p>
        </p:txBody>
      </p:sp>
      <p:sp>
        <p:nvSpPr>
          <p:cNvPr id="17" name="Shape 15"/>
          <p:cNvSpPr/>
          <p:nvPr/>
        </p:nvSpPr>
        <p:spPr>
          <a:xfrm>
            <a:off x="9281160" y="2331720"/>
            <a:ext cx="1965960" cy="658368"/>
          </a:xfrm>
          <a:prstGeom prst="roundRect">
            <a:avLst>
              <a:gd name="adj" fmla="val 4167"/>
            </a:avLst>
          </a:prstGeom>
          <a:solidFill>
            <a:srgbClr val="FFFFFF">
              <a:alpha val="0"/>
            </a:srgbClr>
          </a:solidFill>
          <a:ln w="10160">
            <a:solidFill>
              <a:srgbClr val="BDBDB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09176" y="2441448"/>
            <a:ext cx="1709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+ Nginx</a:t>
            </a:r>
            <a:endParaRPr lang="en-US" sz="1320" dirty="0"/>
          </a:p>
          <a:p>
            <a:pPr marL="0" indent="0">
              <a:buNone/>
            </a:pPr>
            <a:r>
              <a:rPr lang="en-US" sz="13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развертывание</a:t>
            </a:r>
            <a:endParaRPr lang="en-US" sz="1320" dirty="0"/>
          </a:p>
        </p:txBody>
      </p:sp>
      <p:sp>
        <p:nvSpPr>
          <p:cNvPr id="19" name="Shape 17"/>
          <p:cNvSpPr/>
          <p:nvPr/>
        </p:nvSpPr>
        <p:spPr>
          <a:xfrm>
            <a:off x="2788920" y="2231136"/>
            <a:ext cx="822960" cy="0"/>
          </a:xfrm>
          <a:prstGeom prst="line">
            <a:avLst/>
          </a:prstGeom>
          <a:noFill/>
          <a:ln w="13970">
            <a:solidFill>
              <a:srgbClr val="11111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5715000" y="1883665"/>
            <a:ext cx="731520" cy="155447"/>
          </a:xfrm>
          <a:prstGeom prst="line">
            <a:avLst/>
          </a:prstGeom>
          <a:noFill/>
          <a:ln w="13970">
            <a:solidFill>
              <a:srgbClr val="11111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715000" y="2386584"/>
            <a:ext cx="731520" cy="274320"/>
          </a:xfrm>
          <a:prstGeom prst="line">
            <a:avLst/>
          </a:prstGeom>
          <a:noFill/>
          <a:ln w="13970">
            <a:solidFill>
              <a:srgbClr val="11111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63440" y="2633472"/>
            <a:ext cx="0" cy="594360"/>
          </a:xfrm>
          <a:prstGeom prst="line">
            <a:avLst/>
          </a:prstGeom>
          <a:noFill/>
          <a:ln w="13970">
            <a:solidFill>
              <a:srgbClr val="11111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715000" y="3657600"/>
            <a:ext cx="731520" cy="0"/>
          </a:xfrm>
          <a:prstGeom prst="line">
            <a:avLst/>
          </a:prstGeom>
          <a:noFill/>
          <a:ln w="13970">
            <a:solidFill>
              <a:srgbClr val="11111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686800" y="2743200"/>
            <a:ext cx="502920" cy="0"/>
          </a:xfrm>
          <a:prstGeom prst="line">
            <a:avLst/>
          </a:prstGeom>
          <a:noFill/>
          <a:ln w="13970">
            <a:solidFill>
              <a:srgbClr val="11111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865108" y="263347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04672" y="480060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Routes → Controllers → Services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22960" y="5321808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REST API обслуживает бизнес-операции и проверку доступа</a:t>
            </a:r>
            <a:endParaRPr lang="en-US" sz="1470" dirty="0"/>
          </a:p>
        </p:txBody>
      </p:sp>
      <p:sp>
        <p:nvSpPr>
          <p:cNvPr id="33" name="Text 31"/>
          <p:cNvSpPr/>
          <p:nvPr/>
        </p:nvSpPr>
        <p:spPr>
          <a:xfrm>
            <a:off x="822960" y="5650992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Socket.IO доставляет сообщения, реакции и системные события без опроса сервера</a:t>
            </a:r>
            <a:endParaRPr lang="en-US" sz="1470" dirty="0"/>
          </a:p>
        </p:txBody>
      </p:sp>
      <p:sp>
        <p:nvSpPr>
          <p:cNvPr id="34" name="Text 32"/>
          <p:cNvSpPr/>
          <p:nvPr/>
        </p:nvSpPr>
        <p:spPr>
          <a:xfrm>
            <a:off x="822960" y="598017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Docker Compose обеспечивает воспроизводимое окружение</a:t>
            </a:r>
            <a:endParaRPr lang="en-US" sz="1470" dirty="0"/>
          </a:p>
        </p:txBody>
      </p:sp>
      <p:sp>
        <p:nvSpPr>
          <p:cNvPr id="35" name="Shape 33"/>
          <p:cNvSpPr/>
          <p:nvPr/>
        </p:nvSpPr>
        <p:spPr>
          <a:xfrm>
            <a:off x="502920" y="6336792"/>
            <a:ext cx="11201400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1109960" y="638251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 и безопасность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58368" y="1106424"/>
            <a:ext cx="182880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24358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Модель данных поддерживает коммуникацию, роли, модерацию и служебные процессы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777240" y="237744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таблицы PostgreSQL связаны внешними ключами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063240" y="18745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100" dirty="0"/>
          </a:p>
        </p:txBody>
      </p:sp>
      <p:sp>
        <p:nvSpPr>
          <p:cNvPr id="8" name="Text 6"/>
          <p:cNvSpPr/>
          <p:nvPr/>
        </p:nvSpPr>
        <p:spPr>
          <a:xfrm>
            <a:off x="3063240" y="237744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логические группы данных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49808" y="3063240"/>
            <a:ext cx="4754880" cy="0"/>
          </a:xfrm>
          <a:prstGeom prst="line">
            <a:avLst/>
          </a:prstGeom>
          <a:noFill/>
          <a:ln w="11430">
            <a:solidFill>
              <a:srgbClr val="E8E8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456432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основные сущности: users, profiles, roles, chats, friends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77240" y="3840480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коммуникация: messages, reactions, mentions, reads, polls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77240" y="4224528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модерация: reports, warnings, bans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77240" y="4608576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служебные таблицы: коды регистрации, сброс пароля, app_logs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446520" y="18745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МЕХАНИЗМЫ ЗАЩИТЫ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473952" y="22677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JWT access/refresh токены для HTTP и Socket.IO</a:t>
            </a:r>
            <a:endParaRPr lang="en-US" sz="1520" dirty="0"/>
          </a:p>
        </p:txBody>
      </p:sp>
      <p:sp>
        <p:nvSpPr>
          <p:cNvPr id="16" name="Text 14"/>
          <p:cNvSpPr/>
          <p:nvPr/>
        </p:nvSpPr>
        <p:spPr>
          <a:xfrm>
            <a:off x="6473952" y="27249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bcryptjs для хеширования паролей</a:t>
            </a:r>
            <a:endParaRPr lang="en-US" sz="1520" dirty="0"/>
          </a:p>
        </p:txBody>
      </p:sp>
      <p:sp>
        <p:nvSpPr>
          <p:cNvPr id="17" name="Text 15"/>
          <p:cNvSpPr/>
          <p:nvPr/>
        </p:nvSpPr>
        <p:spPr>
          <a:xfrm>
            <a:off x="6473952" y="31821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проверка ролей по актуальным данным БД</a:t>
            </a:r>
            <a:endParaRPr lang="en-US" sz="1520" dirty="0"/>
          </a:p>
        </p:txBody>
      </p:sp>
      <p:sp>
        <p:nvSpPr>
          <p:cNvPr id="18" name="Text 16"/>
          <p:cNvSpPr/>
          <p:nvPr/>
        </p:nvSpPr>
        <p:spPr>
          <a:xfrm>
            <a:off x="6473952" y="36393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email-коды регистрации и восстановления доступа</a:t>
            </a:r>
            <a:endParaRPr lang="en-US" sz="1520" dirty="0"/>
          </a:p>
        </p:txBody>
      </p:sp>
      <p:sp>
        <p:nvSpPr>
          <p:cNvPr id="19" name="Text 17"/>
          <p:cNvSpPr/>
          <p:nvPr/>
        </p:nvSpPr>
        <p:spPr>
          <a:xfrm>
            <a:off x="6473952" y="40965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валидация входных данных на уровне API и клиента</a:t>
            </a:r>
            <a:endParaRPr lang="en-US" sz="1520" dirty="0"/>
          </a:p>
        </p:txBody>
      </p:sp>
      <p:sp>
        <p:nvSpPr>
          <p:cNvPr id="20" name="Shape 18"/>
          <p:cNvSpPr/>
          <p:nvPr/>
        </p:nvSpPr>
        <p:spPr>
          <a:xfrm>
            <a:off x="502920" y="6336792"/>
            <a:ext cx="11201400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109960" y="638251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Реальное время и видеосвязь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58368" y="1106424"/>
            <a:ext cx="182880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24358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Критичные пользовательские действия выполняются без перезагрузки страницы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49808" y="178308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ОТПРАВКА СООБЩЕНИЯ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77240" y="2212848"/>
            <a:ext cx="1417320" cy="475488"/>
          </a:xfrm>
          <a:prstGeom prst="roundRect">
            <a:avLst>
              <a:gd name="adj" fmla="val 5769"/>
            </a:avLst>
          </a:prstGeom>
          <a:solidFill>
            <a:srgbClr val="FFFFFF">
              <a:alpha val="0"/>
            </a:srgbClr>
          </a:solidFill>
          <a:ln w="10160">
            <a:solidFill>
              <a:srgbClr val="BDBDB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5256" y="2322576"/>
            <a:ext cx="1161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</a:t>
            </a:r>
            <a:endParaRPr lang="en-US" sz="1220" dirty="0"/>
          </a:p>
        </p:txBody>
      </p:sp>
      <p:sp>
        <p:nvSpPr>
          <p:cNvPr id="8" name="Shape 6"/>
          <p:cNvSpPr/>
          <p:nvPr/>
        </p:nvSpPr>
        <p:spPr>
          <a:xfrm>
            <a:off x="2221992" y="2450592"/>
            <a:ext cx="402336" cy="0"/>
          </a:xfrm>
          <a:prstGeom prst="line">
            <a:avLst/>
          </a:prstGeom>
          <a:noFill/>
          <a:ln w="13970">
            <a:solidFill>
              <a:srgbClr val="11111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97480" y="2212848"/>
            <a:ext cx="1417320" cy="475488"/>
          </a:xfrm>
          <a:prstGeom prst="roundRect">
            <a:avLst>
              <a:gd name="adj" fmla="val 5769"/>
            </a:avLst>
          </a:prstGeom>
          <a:solidFill>
            <a:srgbClr val="FFFFFF">
              <a:alpha val="0"/>
            </a:srgbClr>
          </a:solidFill>
          <a:ln w="10160">
            <a:solidFill>
              <a:srgbClr val="BDBDB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25496" y="2322576"/>
            <a:ext cx="1161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 прав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4142232" y="2450592"/>
            <a:ext cx="402336" cy="0"/>
          </a:xfrm>
          <a:prstGeom prst="line">
            <a:avLst/>
          </a:prstGeom>
          <a:noFill/>
          <a:ln w="13970">
            <a:solidFill>
              <a:srgbClr val="11111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70248" y="234086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17720" y="2212848"/>
            <a:ext cx="1417320" cy="475488"/>
          </a:xfrm>
          <a:prstGeom prst="roundRect">
            <a:avLst>
              <a:gd name="adj" fmla="val 5769"/>
            </a:avLst>
          </a:prstGeom>
          <a:solidFill>
            <a:srgbClr val="FFFFFF">
              <a:alpha val="0"/>
            </a:srgbClr>
          </a:solidFill>
          <a:ln w="10160">
            <a:solidFill>
              <a:srgbClr val="BDBDB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45736" y="2322576"/>
            <a:ext cx="1161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запись в БД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6062472" y="2450592"/>
            <a:ext cx="402336" cy="0"/>
          </a:xfrm>
          <a:prstGeom prst="line">
            <a:avLst/>
          </a:prstGeom>
          <a:noFill/>
          <a:ln w="13970">
            <a:solidFill>
              <a:srgbClr val="11111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37960" y="2212848"/>
            <a:ext cx="1417320" cy="475488"/>
          </a:xfrm>
          <a:prstGeom prst="roundRect">
            <a:avLst>
              <a:gd name="adj" fmla="val 5769"/>
            </a:avLst>
          </a:prstGeom>
          <a:solidFill>
            <a:srgbClr val="FFFFFF">
              <a:alpha val="0"/>
            </a:srgbClr>
          </a:solidFill>
          <a:ln w="10160">
            <a:solidFill>
              <a:srgbClr val="BDBDB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65976" y="2322576"/>
            <a:ext cx="1161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Socket.IO room</a:t>
            </a:r>
            <a:endParaRPr lang="en-US" sz="1220" dirty="0"/>
          </a:p>
        </p:txBody>
      </p:sp>
      <p:sp>
        <p:nvSpPr>
          <p:cNvPr id="20" name="Shape 18"/>
          <p:cNvSpPr/>
          <p:nvPr/>
        </p:nvSpPr>
        <p:spPr>
          <a:xfrm>
            <a:off x="7982712" y="2450592"/>
            <a:ext cx="402336" cy="0"/>
          </a:xfrm>
          <a:prstGeom prst="line">
            <a:avLst/>
          </a:prstGeom>
          <a:noFill/>
          <a:ln w="13970">
            <a:solidFill>
              <a:srgbClr val="11111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458200" y="2212848"/>
            <a:ext cx="1417320" cy="475488"/>
          </a:xfrm>
          <a:prstGeom prst="roundRect">
            <a:avLst>
              <a:gd name="adj" fmla="val 5769"/>
            </a:avLst>
          </a:prstGeom>
          <a:solidFill>
            <a:srgbClr val="FFFFFF">
              <a:alpha val="0"/>
            </a:srgbClr>
          </a:solidFill>
          <a:ln w="10160">
            <a:solidFill>
              <a:srgbClr val="BDBDB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86216" y="2322576"/>
            <a:ext cx="1161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обновление UI</a:t>
            </a:r>
            <a:endParaRPr lang="en-US" sz="1220" dirty="0"/>
          </a:p>
        </p:txBody>
      </p:sp>
      <p:sp>
        <p:nvSpPr>
          <p:cNvPr id="24" name="Text 22"/>
          <p:cNvSpPr/>
          <p:nvPr/>
        </p:nvSpPr>
        <p:spPr>
          <a:xfrm>
            <a:off x="822960" y="3182112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сервер сохраняет сообщение и рассылает событие только участникам chat_id</a:t>
            </a:r>
            <a:endParaRPr lang="en-US" sz="1520" dirty="0"/>
          </a:p>
        </p:txBody>
      </p:sp>
      <p:sp>
        <p:nvSpPr>
          <p:cNvPr id="25" name="Text 23"/>
          <p:cNvSpPr/>
          <p:nvPr/>
        </p:nvSpPr>
        <p:spPr>
          <a:xfrm>
            <a:off x="822960" y="356616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реакции, удаления и системные уведомления синхронизируются тем же каналом</a:t>
            </a:r>
            <a:endParaRPr lang="en-US" sz="1520" dirty="0"/>
          </a:p>
        </p:txBody>
      </p:sp>
      <p:sp>
        <p:nvSpPr>
          <p:cNvPr id="26" name="Shape 24"/>
          <p:cNvSpPr/>
          <p:nvPr/>
        </p:nvSpPr>
        <p:spPr>
          <a:xfrm>
            <a:off x="749808" y="4069080"/>
            <a:ext cx="10652760" cy="0"/>
          </a:xfrm>
          <a:prstGeom prst="line">
            <a:avLst/>
          </a:prstGeom>
          <a:noFill/>
          <a:ln w="11430">
            <a:solidFill>
              <a:srgbClr val="E8E8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9808" y="4370832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ОПТИМИЗАЦИЯ ВИДЕОЗВОНКА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822960" y="4718304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сбор RTT, джиттера, потери пакетов и пропускной способности</a:t>
            </a:r>
            <a:endParaRPr lang="en-US" sz="1520" dirty="0"/>
          </a:p>
        </p:txBody>
      </p:sp>
      <p:sp>
        <p:nvSpPr>
          <p:cNvPr id="29" name="Text 27"/>
          <p:cNvSpPr/>
          <p:nvPr/>
        </p:nvSpPr>
        <p:spPr>
          <a:xfrm>
            <a:off x="822960" y="510235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прогноз деградации сети на 2 секунды вперед</a:t>
            </a:r>
            <a:endParaRPr lang="en-US" sz="1520" dirty="0"/>
          </a:p>
        </p:txBody>
      </p:sp>
      <p:sp>
        <p:nvSpPr>
          <p:cNvPr id="30" name="Text 28"/>
          <p:cNvSpPr/>
          <p:nvPr/>
        </p:nvSpPr>
        <p:spPr>
          <a:xfrm>
            <a:off x="822960" y="54864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при риске сбоя битрейт снижается до 500 кбит/с, затем плавно восстанавливается</a:t>
            </a:r>
            <a:endParaRPr lang="en-US" sz="1520" dirty="0"/>
          </a:p>
        </p:txBody>
      </p:sp>
      <p:sp>
        <p:nvSpPr>
          <p:cNvPr id="31" name="Shape 29"/>
          <p:cNvSpPr/>
          <p:nvPr/>
        </p:nvSpPr>
        <p:spPr>
          <a:xfrm>
            <a:off x="502920" y="6336792"/>
            <a:ext cx="11201400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109960" y="638251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Интерфейс пользователя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58368" y="1106424"/>
            <a:ext cx="182880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24358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Основной экран объединяет навигацию, переписку, медиа и управление профилем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13232" y="1737360"/>
            <a:ext cx="5166360" cy="2331720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E8E8E8"/>
            </a:solidFill>
            <a:prstDash val="solid"/>
          </a:ln>
        </p:spPr>
      </p:sp>
      <p:pic>
        <p:nvPicPr>
          <p:cNvPr id="6" name="Image 0" descr="E:\1LABS\kp\nodekursproj-main1\.codex_doc_work\zapiska_media\image2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741194"/>
            <a:ext cx="5166360" cy="23240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4160520"/>
            <a:ext cx="5166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Главная рабочая область и чат</a:t>
            </a:r>
            <a:endParaRPr lang="en-US" sz="880" dirty="0"/>
          </a:p>
        </p:txBody>
      </p:sp>
      <p:sp>
        <p:nvSpPr>
          <p:cNvPr id="8" name="Shape 5"/>
          <p:cNvSpPr/>
          <p:nvPr/>
        </p:nvSpPr>
        <p:spPr>
          <a:xfrm>
            <a:off x="6263640" y="1737360"/>
            <a:ext cx="2286000" cy="2331720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E8E8E8"/>
            </a:solidFill>
            <a:prstDash val="solid"/>
          </a:ln>
        </p:spPr>
      </p:sp>
      <p:pic>
        <p:nvPicPr>
          <p:cNvPr id="9" name="Image 1" descr="E:\1LABS\kp\nodekursproj-main1\.codex_doc_work\zapiska_media\image4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2321694"/>
            <a:ext cx="2286000" cy="116305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263640" y="416052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Медиа и видеосценарии</a:t>
            </a:r>
            <a:endParaRPr lang="en-US" sz="880" dirty="0"/>
          </a:p>
        </p:txBody>
      </p:sp>
      <p:sp>
        <p:nvSpPr>
          <p:cNvPr id="11" name="Shape 7"/>
          <p:cNvSpPr/>
          <p:nvPr/>
        </p:nvSpPr>
        <p:spPr>
          <a:xfrm>
            <a:off x="8915400" y="1737360"/>
            <a:ext cx="2286000" cy="2331720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E8E8E8"/>
            </a:solidFill>
            <a:prstDash val="solid"/>
          </a:ln>
        </p:spPr>
      </p:sp>
      <p:pic>
        <p:nvPicPr>
          <p:cNvPr id="12" name="Image 2" descr="E:\1LABS\kp\nodekursproj-main1\.codex_doc_work\zapiska_media\image4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15400" y="1874653"/>
            <a:ext cx="2286000" cy="205713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915400" y="416052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Настройка профиля</a:t>
            </a:r>
            <a:endParaRPr lang="en-US" sz="880" dirty="0"/>
          </a:p>
        </p:txBody>
      </p:sp>
      <p:sp>
        <p:nvSpPr>
          <p:cNvPr id="14" name="Text 9"/>
          <p:cNvSpPr/>
          <p:nvPr/>
        </p:nvSpPr>
        <p:spPr>
          <a:xfrm>
            <a:off x="777240" y="489204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слева: чаты, друзья, входящие заявки и поиск пользователей</a:t>
            </a:r>
            <a:endParaRPr lang="en-US" sz="1480" dirty="0"/>
          </a:p>
        </p:txBody>
      </p:sp>
      <p:sp>
        <p:nvSpPr>
          <p:cNvPr id="15" name="Text 10"/>
          <p:cNvSpPr/>
          <p:nvPr/>
        </p:nvSpPr>
        <p:spPr>
          <a:xfrm>
            <a:off x="777240" y="5239512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в центре: переписка, вложения, реакции, стикеры и действия над сообщениями</a:t>
            </a:r>
            <a:endParaRPr lang="en-US" sz="1480" dirty="0"/>
          </a:p>
        </p:txBody>
      </p:sp>
      <p:sp>
        <p:nvSpPr>
          <p:cNvPr id="16" name="Text 11"/>
          <p:cNvSpPr/>
          <p:nvPr/>
        </p:nvSpPr>
        <p:spPr>
          <a:xfrm>
            <a:off x="777240" y="5586984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в профиле: аватар, фон, цвета, бейджи и смена пароля</a:t>
            </a:r>
            <a:endParaRPr lang="en-US" sz="1480" dirty="0"/>
          </a:p>
        </p:txBody>
      </p:sp>
      <p:sp>
        <p:nvSpPr>
          <p:cNvPr id="17" name="Shape 12"/>
          <p:cNvSpPr/>
          <p:nvPr/>
        </p:nvSpPr>
        <p:spPr>
          <a:xfrm>
            <a:off x="502920" y="6336792"/>
            <a:ext cx="11201400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11109960" y="638251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Модерация и администрирование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58368" y="1106424"/>
            <a:ext cx="182880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24358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Ролевой контроль встроен в бизнес-логику сервера и пользовательский интерфейс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13232" y="1737360"/>
            <a:ext cx="3383280" cy="1463040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E8E8E8"/>
            </a:solidFill>
            <a:prstDash val="solid"/>
          </a:ln>
        </p:spPr>
      </p:sp>
      <p:pic>
        <p:nvPicPr>
          <p:cNvPr id="6" name="Image 0" descr="E:\1LABS\kp\nodekursproj-main1\.codex_doc_work\zapiska_media\image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740868"/>
            <a:ext cx="3383280" cy="14560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434840" y="1737360"/>
            <a:ext cx="3383280" cy="1463040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E8E8E8"/>
            </a:solidFill>
            <a:prstDash val="solid"/>
          </a:ln>
        </p:spPr>
      </p:sp>
      <p:pic>
        <p:nvPicPr>
          <p:cNvPr id="8" name="Image 1" descr="E:\1LABS\kp\nodekursproj-main1\.codex_doc_work\zapiska_media\image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1772014"/>
            <a:ext cx="3383280" cy="1393733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8156448" y="1737360"/>
            <a:ext cx="3383280" cy="1463040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E8E8E8"/>
            </a:solidFill>
            <a:prstDash val="solid"/>
          </a:ln>
        </p:spPr>
      </p:sp>
      <p:pic>
        <p:nvPicPr>
          <p:cNvPr id="10" name="Image 2" descr="E:\1LABS\kp\nodekursproj-main1\.codex_doc_work\zapiska_media\image5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6448" y="1998553"/>
            <a:ext cx="3383280" cy="94065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13232" y="329184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Панель модератора</a:t>
            </a:r>
            <a:endParaRPr lang="en-US" sz="880" dirty="0"/>
          </a:p>
        </p:txBody>
      </p:sp>
      <p:sp>
        <p:nvSpPr>
          <p:cNvPr id="12" name="Text 7"/>
          <p:cNvSpPr/>
          <p:nvPr/>
        </p:nvSpPr>
        <p:spPr>
          <a:xfrm>
            <a:off x="4434840" y="329184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Управление пользователями</a:t>
            </a:r>
            <a:endParaRPr lang="en-US" sz="880" dirty="0"/>
          </a:p>
        </p:txBody>
      </p:sp>
      <p:sp>
        <p:nvSpPr>
          <p:cNvPr id="13" name="Text 8"/>
          <p:cNvSpPr/>
          <p:nvPr/>
        </p:nvSpPr>
        <p:spPr>
          <a:xfrm>
            <a:off x="8156448" y="329184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Статистика приложения</a:t>
            </a:r>
            <a:endParaRPr lang="en-US" sz="880" dirty="0"/>
          </a:p>
        </p:txBody>
      </p:sp>
      <p:sp>
        <p:nvSpPr>
          <p:cNvPr id="14" name="Text 9"/>
          <p:cNvSpPr/>
          <p:nvPr/>
        </p:nvSpPr>
        <p:spPr>
          <a:xfrm>
            <a:off x="749808" y="416052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РОЛИ</a:t>
            </a:r>
            <a:endParaRPr lang="en-US" sz="850" dirty="0"/>
          </a:p>
        </p:txBody>
      </p:sp>
      <p:sp>
        <p:nvSpPr>
          <p:cNvPr id="15" name="Text 10"/>
          <p:cNvSpPr/>
          <p:nvPr/>
        </p:nvSpPr>
        <p:spPr>
          <a:xfrm>
            <a:off x="777240" y="4517136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гость: регистрация и вход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777240" y="48463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пользователь: чаты, друзья, профиль, звонки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777240" y="5175504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модератор: жалобы, предупреждения, блокировки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777240" y="550468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администратор: пользователи, чаты, рассылки, статистика, логи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6446520" y="416052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КЛЮЧЕВОЙ ПРИНЦИП</a:t>
            </a:r>
            <a:endParaRPr lang="en-US" sz="850" dirty="0"/>
          </a:p>
        </p:txBody>
      </p:sp>
      <p:sp>
        <p:nvSpPr>
          <p:cNvPr id="20" name="Text 15"/>
          <p:cNvSpPr/>
          <p:nvPr/>
        </p:nvSpPr>
        <p:spPr>
          <a:xfrm>
            <a:off x="6473952" y="4526280"/>
            <a:ext cx="47548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Права доступа проверяются на сервере при каждом запросе. Это исключает обход ограничений через устаревший токен или подмену состояния на клиенте.</a:t>
            </a:r>
            <a:endParaRPr lang="en-US" sz="1520" dirty="0"/>
          </a:p>
        </p:txBody>
      </p:sp>
      <p:sp>
        <p:nvSpPr>
          <p:cNvPr id="21" name="Shape 16"/>
          <p:cNvSpPr/>
          <p:nvPr/>
        </p:nvSpPr>
        <p:spPr>
          <a:xfrm>
            <a:off x="502920" y="6336792"/>
            <a:ext cx="11201400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11109960" y="638251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Тестирование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58368" y="1106424"/>
            <a:ext cx="182880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24358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Проверены стандартные, граничные и ошибочные сценарии работы приложения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841248" y="2560320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функциональный тест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пройден успешно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886200" y="175564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Регистрация и вход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6355080" y="1755648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email-код, пароль, блокировка, ошибки авторизации</a:t>
            </a:r>
            <a:endParaRPr lang="en-US" sz="1420" dirty="0"/>
          </a:p>
        </p:txBody>
      </p:sp>
      <p:sp>
        <p:nvSpPr>
          <p:cNvPr id="9" name="Shape 7"/>
          <p:cNvSpPr/>
          <p:nvPr/>
        </p:nvSpPr>
        <p:spPr>
          <a:xfrm>
            <a:off x="3886200" y="2194560"/>
            <a:ext cx="7360920" cy="0"/>
          </a:xfrm>
          <a:prstGeom prst="line">
            <a:avLst/>
          </a:prstGeom>
          <a:noFill/>
          <a:ln w="8255">
            <a:solidFill>
              <a:srgbClr val="E8E8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86200" y="2432304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Сообщения и чаты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355080" y="2432304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доставка через Socket.IO, роли участников, приглашения</a:t>
            </a:r>
            <a:endParaRPr lang="en-US" sz="1420" dirty="0"/>
          </a:p>
        </p:txBody>
      </p:sp>
      <p:sp>
        <p:nvSpPr>
          <p:cNvPr id="12" name="Shape 10"/>
          <p:cNvSpPr/>
          <p:nvPr/>
        </p:nvSpPr>
        <p:spPr>
          <a:xfrm>
            <a:off x="3886200" y="2871216"/>
            <a:ext cx="7360920" cy="0"/>
          </a:xfrm>
          <a:prstGeom prst="line">
            <a:avLst/>
          </a:prstGeom>
          <a:noFill/>
          <a:ln w="8255">
            <a:solidFill>
              <a:srgbClr val="E8E8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86200" y="310896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Файлы и валидация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6355080" y="3108960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лимит 5 МБ, формат email, длины полей, пустые значения</a:t>
            </a:r>
            <a:endParaRPr lang="en-US" sz="1420" dirty="0"/>
          </a:p>
        </p:txBody>
      </p:sp>
      <p:sp>
        <p:nvSpPr>
          <p:cNvPr id="15" name="Shape 13"/>
          <p:cNvSpPr/>
          <p:nvPr/>
        </p:nvSpPr>
        <p:spPr>
          <a:xfrm>
            <a:off x="3886200" y="3547872"/>
            <a:ext cx="7360920" cy="0"/>
          </a:xfrm>
          <a:prstGeom prst="line">
            <a:avLst/>
          </a:prstGeom>
          <a:noFill/>
          <a:ln w="8255">
            <a:solidFill>
              <a:srgbClr val="E8E8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86200" y="3785616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Администрирование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355080" y="3785616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защита /admin/* и /moderator/*, запрет эскалации прав</a:t>
            </a:r>
            <a:endParaRPr lang="en-US" sz="1420" dirty="0"/>
          </a:p>
        </p:txBody>
      </p:sp>
      <p:sp>
        <p:nvSpPr>
          <p:cNvPr id="18" name="Shape 16"/>
          <p:cNvSpPr/>
          <p:nvPr/>
        </p:nvSpPr>
        <p:spPr>
          <a:xfrm>
            <a:off x="3886200" y="4224528"/>
            <a:ext cx="7360920" cy="0"/>
          </a:xfrm>
          <a:prstGeom prst="line">
            <a:avLst/>
          </a:prstGeom>
          <a:noFill/>
          <a:ln w="8255">
            <a:solidFill>
              <a:srgbClr val="E8E8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86200" y="446227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Связь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6355080" y="4462272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WebRTC-звонки, восстановление Socket.IO при нестабильной сети</a:t>
            </a:r>
            <a:endParaRPr lang="en-US" sz="1420" dirty="0"/>
          </a:p>
        </p:txBody>
      </p:sp>
      <p:sp>
        <p:nvSpPr>
          <p:cNvPr id="21" name="Shape 19"/>
          <p:cNvSpPr/>
          <p:nvPr/>
        </p:nvSpPr>
        <p:spPr>
          <a:xfrm>
            <a:off x="3886200" y="4901184"/>
            <a:ext cx="7360920" cy="0"/>
          </a:xfrm>
          <a:prstGeom prst="line">
            <a:avLst/>
          </a:prstGeom>
          <a:noFill/>
          <a:ln w="8255">
            <a:solidFill>
              <a:srgbClr val="E8E8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6384" y="5166360"/>
            <a:ext cx="10241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Результат: система корректно обрабатывает ошибки и сохраняет работоспособность в ключевых сценариях.</a:t>
            </a:r>
            <a:endParaRPr lang="en-US" sz="1720" dirty="0"/>
          </a:p>
        </p:txBody>
      </p:sp>
      <p:sp>
        <p:nvSpPr>
          <p:cNvPr id="23" name="Shape 21"/>
          <p:cNvSpPr/>
          <p:nvPr/>
        </p:nvSpPr>
        <p:spPr>
          <a:xfrm>
            <a:off x="502920" y="6336792"/>
            <a:ext cx="11201400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109960" y="638251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Технико-экономическое обоснование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58368" y="1106424"/>
            <a:ext cx="182880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24358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Расчет показывает экономическую целесообразность продажи веб-приложения заказчику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13232" y="1719072"/>
            <a:ext cx="5349240" cy="3337560"/>
          </a:xfrm>
          <a:prstGeom prst="rect">
            <a:avLst/>
          </a:prstGeom>
          <a:solidFill>
            <a:srgbClr val="FFFFFF">
              <a:alpha val="0"/>
            </a:srgbClr>
          </a:solidFill>
          <a:ln w="7620">
            <a:solidFill>
              <a:srgbClr val="D0D0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719072"/>
            <a:ext cx="5349240" cy="417195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1783080"/>
            <a:ext cx="3465576" cy="3074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Показатель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25112" y="1719072"/>
            <a:ext cx="0" cy="333756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98264" y="1783080"/>
            <a:ext cx="1591056" cy="3074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Значение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13232" y="2136267"/>
            <a:ext cx="5349240" cy="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" y="2200275"/>
            <a:ext cx="3465576" cy="3074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Полная себестоимость разработки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4325112" y="1719072"/>
            <a:ext cx="0" cy="333756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98264" y="2200275"/>
            <a:ext cx="1591056" cy="3074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18 146,60 руб.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713232" y="2553462"/>
            <a:ext cx="5349240" cy="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6384" y="2617470"/>
            <a:ext cx="3465576" cy="3074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Минимальная рыночная оценка аналога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4325112" y="1719072"/>
            <a:ext cx="0" cy="333756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98264" y="2617470"/>
            <a:ext cx="1591056" cy="3074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26 526,50 руб.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713232" y="2970657"/>
            <a:ext cx="5349240" cy="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6384" y="3034665"/>
            <a:ext cx="3465576" cy="3074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Средняя рыночная цена аналогов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4325112" y="1719072"/>
            <a:ext cx="0" cy="333756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98264" y="3034665"/>
            <a:ext cx="1591056" cy="3074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32 091,75 руб.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713232" y="3387852"/>
            <a:ext cx="5349240" cy="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6384" y="3451860"/>
            <a:ext cx="3465576" cy="3074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Цена продажи с НДС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4325112" y="1719072"/>
            <a:ext cx="0" cy="333756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98264" y="3451860"/>
            <a:ext cx="1591056" cy="3074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28 308,70 руб.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713232" y="3805047"/>
            <a:ext cx="5349240" cy="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6384" y="3869055"/>
            <a:ext cx="3465576" cy="3074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Прибыль от реализации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4325112" y="1719072"/>
            <a:ext cx="0" cy="333756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98264" y="3869055"/>
            <a:ext cx="1591056" cy="3074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5 443,98 руб.</a:t>
            </a: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713232" y="4222242"/>
            <a:ext cx="5349240" cy="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86384" y="4286250"/>
            <a:ext cx="3465576" cy="3074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Рентабельность продукта</a:t>
            </a:r>
            <a:endParaRPr lang="en-US" sz="1080" dirty="0"/>
          </a:p>
        </p:txBody>
      </p:sp>
      <p:sp>
        <p:nvSpPr>
          <p:cNvPr id="32" name="Shape 30"/>
          <p:cNvSpPr/>
          <p:nvPr/>
        </p:nvSpPr>
        <p:spPr>
          <a:xfrm>
            <a:off x="4325112" y="1719072"/>
            <a:ext cx="0" cy="333756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98264" y="4286250"/>
            <a:ext cx="1591056" cy="3074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30,00%</a:t>
            </a:r>
            <a:endParaRPr lang="en-US" sz="1080" dirty="0"/>
          </a:p>
        </p:txBody>
      </p:sp>
      <p:sp>
        <p:nvSpPr>
          <p:cNvPr id="34" name="Shape 32"/>
          <p:cNvSpPr/>
          <p:nvPr/>
        </p:nvSpPr>
        <p:spPr>
          <a:xfrm>
            <a:off x="713232" y="4639437"/>
            <a:ext cx="5349240" cy="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86384" y="4703445"/>
            <a:ext cx="3465576" cy="3074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Чистая прибыль</a:t>
            </a:r>
            <a:endParaRPr lang="en-US" sz="1080" dirty="0"/>
          </a:p>
        </p:txBody>
      </p:sp>
      <p:sp>
        <p:nvSpPr>
          <p:cNvPr id="36" name="Shape 34"/>
          <p:cNvSpPr/>
          <p:nvPr/>
        </p:nvSpPr>
        <p:spPr>
          <a:xfrm>
            <a:off x="4325112" y="1719072"/>
            <a:ext cx="0" cy="333756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98264" y="4703445"/>
            <a:ext cx="1591056" cy="3074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4 355,18 руб.</a:t>
            </a:r>
            <a:endParaRPr lang="en-US" sz="1080" dirty="0"/>
          </a:p>
        </p:txBody>
      </p:sp>
      <p:sp>
        <p:nvSpPr>
          <p:cNvPr id="38" name="Text 36"/>
          <p:cNvSpPr/>
          <p:nvPr/>
        </p:nvSpPr>
        <p:spPr>
          <a:xfrm>
            <a:off x="6446520" y="190195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Себестоимость</a:t>
            </a:r>
            <a:endParaRPr lang="en-US" sz="1180" dirty="0"/>
          </a:p>
        </p:txBody>
      </p:sp>
      <p:sp>
        <p:nvSpPr>
          <p:cNvPr id="39" name="Shape 37"/>
          <p:cNvSpPr/>
          <p:nvPr/>
        </p:nvSpPr>
        <p:spPr>
          <a:xfrm>
            <a:off x="8229600" y="1938528"/>
            <a:ext cx="2606040" cy="146304"/>
          </a:xfrm>
          <a:prstGeom prst="rect">
            <a:avLst/>
          </a:prstGeom>
          <a:solidFill>
            <a:srgbClr val="E1E1E1"/>
          </a:solidFill>
          <a:ln w="12700">
            <a:solidFill>
              <a:srgbClr val="E1E1E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229600" y="1938528"/>
            <a:ext cx="1433053" cy="14630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927080" y="188366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18 146,60 руб.</a:t>
            </a:r>
            <a:endParaRPr lang="en-US" sz="880" dirty="0"/>
          </a:p>
        </p:txBody>
      </p:sp>
      <p:sp>
        <p:nvSpPr>
          <p:cNvPr id="42" name="Text 40"/>
          <p:cNvSpPr/>
          <p:nvPr/>
        </p:nvSpPr>
        <p:spPr>
          <a:xfrm>
            <a:off x="6446520" y="25603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Минимум рынка</a:t>
            </a:r>
            <a:endParaRPr lang="en-US" sz="1180" dirty="0"/>
          </a:p>
        </p:txBody>
      </p:sp>
      <p:sp>
        <p:nvSpPr>
          <p:cNvPr id="43" name="Shape 41"/>
          <p:cNvSpPr/>
          <p:nvPr/>
        </p:nvSpPr>
        <p:spPr>
          <a:xfrm>
            <a:off x="8229600" y="2596896"/>
            <a:ext cx="2606040" cy="146304"/>
          </a:xfrm>
          <a:prstGeom prst="rect">
            <a:avLst/>
          </a:prstGeom>
          <a:solidFill>
            <a:srgbClr val="E1E1E1"/>
          </a:solidFill>
          <a:ln w="12700">
            <a:solidFill>
              <a:srgbClr val="E1E1E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229600" y="2596896"/>
            <a:ext cx="2094822" cy="14630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927080" y="254203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26 526,50 руб.</a:t>
            </a:r>
            <a:endParaRPr lang="en-US" sz="880" dirty="0"/>
          </a:p>
        </p:txBody>
      </p:sp>
      <p:sp>
        <p:nvSpPr>
          <p:cNvPr id="46" name="Text 44"/>
          <p:cNvSpPr/>
          <p:nvPr/>
        </p:nvSpPr>
        <p:spPr>
          <a:xfrm>
            <a:off x="6446520" y="321868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Цена продажи</a:t>
            </a:r>
            <a:endParaRPr lang="en-US" sz="1180" dirty="0"/>
          </a:p>
        </p:txBody>
      </p:sp>
      <p:sp>
        <p:nvSpPr>
          <p:cNvPr id="47" name="Shape 45"/>
          <p:cNvSpPr/>
          <p:nvPr/>
        </p:nvSpPr>
        <p:spPr>
          <a:xfrm>
            <a:off x="8229600" y="3255264"/>
            <a:ext cx="2606040" cy="146304"/>
          </a:xfrm>
          <a:prstGeom prst="rect">
            <a:avLst/>
          </a:prstGeom>
          <a:solidFill>
            <a:srgbClr val="E1E1E1"/>
          </a:solidFill>
          <a:ln w="12700">
            <a:solidFill>
              <a:srgbClr val="E1E1E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229600" y="3255264"/>
            <a:ext cx="2235564" cy="14630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927080" y="320040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28 308,70 руб.</a:t>
            </a:r>
            <a:endParaRPr lang="en-US" sz="880" dirty="0"/>
          </a:p>
        </p:txBody>
      </p:sp>
      <p:sp>
        <p:nvSpPr>
          <p:cNvPr id="50" name="Text 48"/>
          <p:cNvSpPr/>
          <p:nvPr/>
        </p:nvSpPr>
        <p:spPr>
          <a:xfrm>
            <a:off x="6446520" y="387705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Средняя цена</a:t>
            </a:r>
            <a:endParaRPr lang="en-US" sz="1180" dirty="0"/>
          </a:p>
        </p:txBody>
      </p:sp>
      <p:sp>
        <p:nvSpPr>
          <p:cNvPr id="51" name="Shape 49"/>
          <p:cNvSpPr/>
          <p:nvPr/>
        </p:nvSpPr>
        <p:spPr>
          <a:xfrm>
            <a:off x="8229600" y="3913632"/>
            <a:ext cx="2606040" cy="146304"/>
          </a:xfrm>
          <a:prstGeom prst="rect">
            <a:avLst/>
          </a:prstGeom>
          <a:solidFill>
            <a:srgbClr val="E1E1E1"/>
          </a:solidFill>
          <a:ln w="12700">
            <a:solidFill>
              <a:srgbClr val="E1E1E1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229600" y="3913632"/>
            <a:ext cx="2534315" cy="14630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927080" y="3858768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32 091,75 руб.</a:t>
            </a:r>
            <a:endParaRPr lang="en-US" sz="880" dirty="0"/>
          </a:p>
        </p:txBody>
      </p:sp>
      <p:sp>
        <p:nvSpPr>
          <p:cNvPr id="54" name="Text 52"/>
          <p:cNvSpPr/>
          <p:nvPr/>
        </p:nvSpPr>
        <p:spPr>
          <a:xfrm>
            <a:off x="6446520" y="4892040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4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Вывод: цена реализации превышает себестоимость, а прибыль, рентабельность и чистая прибыль имеют положительные значения.</a:t>
            </a:r>
            <a:endParaRPr lang="en-US" sz="1540" dirty="0"/>
          </a:p>
        </p:txBody>
      </p:sp>
      <p:sp>
        <p:nvSpPr>
          <p:cNvPr id="55" name="Shape 53"/>
          <p:cNvSpPr/>
          <p:nvPr/>
        </p:nvSpPr>
        <p:spPr>
          <a:xfrm>
            <a:off x="502920" y="6336792"/>
            <a:ext cx="11201400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1109960" y="638251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Выводы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58368" y="1106424"/>
            <a:ext cx="182880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24358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 дипломного проекта достигнута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77240" y="1783080"/>
            <a:ext cx="10332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проведен анализ предметной области и аналогичных решений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2295144"/>
            <a:ext cx="10332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спроектированы архитектура, база данных, роли и основные алгоритмы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2807208"/>
            <a:ext cx="10332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реализовано веб-приложение с чатами, друзьями, звонками, модерацией и администрированием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3319272"/>
            <a:ext cx="10332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выполнено тестирование ключевых и ошибочных сценариев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3831336"/>
            <a:ext cx="10332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экономический расчет подтверждает целесообразность разработки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49808" y="5257800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768096" y="5806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6336792"/>
            <a:ext cx="11201400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109960" y="638251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1881</Words>
  <Application>Microsoft Office PowerPoint</Application>
  <PresentationFormat>Широкоэкранный</PresentationFormat>
  <Paragraphs>211</Paragraphs>
  <Slides>13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БГТУ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веб-приложения Lume для видеозвонков и обмена сообщениями</dc:title>
  <dc:subject>Презентация для защиты дипломного проекта</dc:subject>
  <dc:creator>Шатерник Глеб</dc:creator>
  <cp:lastModifiedBy>Глеб Шатерник</cp:lastModifiedBy>
  <cp:revision>4</cp:revision>
  <dcterms:created xsi:type="dcterms:W3CDTF">2026-05-25T01:54:02Z</dcterms:created>
  <dcterms:modified xsi:type="dcterms:W3CDTF">2026-05-25T10:10:56Z</dcterms:modified>
</cp:coreProperties>
</file>