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0" r:id="rId4"/>
    <p:sldId id="258" r:id="rId5"/>
    <p:sldId id="262" r:id="rId6"/>
    <p:sldId id="264" r:id="rId7"/>
    <p:sldId id="266" r:id="rId8"/>
    <p:sldId id="263" r:id="rId9"/>
    <p:sldId id="270" r:id="rId10"/>
    <p:sldId id="271" r:id="rId11"/>
    <p:sldId id="272" r:id="rId12"/>
    <p:sldId id="283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71D854-79AC-4512-9384-8CA84CCBA3EA}">
  <a:tblStyle styleId="{7C71D854-79AC-4512-9384-8CA84CCBA3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bd104e7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bd104e7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bd104e72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bd104e72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bd104e72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bd104e72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eae06869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eae06869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bd104e72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bd104e72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bd104e72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bd104e72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bd104e72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bd104e72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bd104e72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bd104e72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bd104e72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bd104e729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bd104e729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bd104e729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10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4283" y="1779181"/>
            <a:ext cx="8520600" cy="15098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МИНИСТЕРСТВО ОБРАЗОВАНИЯ РЕСПУБЛИКИ БЕЛАРУСЬ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Учреждения образования «БЕЛОРУССКИЙ ГОСУДАРСТВЕННЫЙ 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ТЕХНОЛОГИЧЕСКИЙ УНИВЕРСИТЕТ»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Факультет информационных технологий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Кафедра информационных систем и технологий</a:t>
            </a: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Тема дипломного проекта:</a:t>
            </a: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«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Веб-приложение для видео-звонков</a:t>
            </a:r>
            <a: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»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3709447"/>
            <a:ext cx="4542034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Дипломник:</a:t>
            </a:r>
            <a:r>
              <a:rPr lang="ru-RU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Шатерник Глеб Игоревич</a:t>
            </a:r>
            <a:r>
              <a:rPr 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5CE184C4-0804-4FA6-9EB1-05CB3120F4D2}"/>
              </a:ext>
            </a:extLst>
          </p:cNvPr>
          <p:cNvSpPr txBox="1">
            <a:spLocks/>
          </p:cNvSpPr>
          <p:nvPr/>
        </p:nvSpPr>
        <p:spPr>
          <a:xfrm>
            <a:off x="-1" y="4141447"/>
            <a:ext cx="8712001" cy="57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Руководитель дипломного проекта: Подрез Алина Александровна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984897-0ED2-48D9-AE15-D8B201FA90BB}"/>
              </a:ext>
            </a:extLst>
          </p:cNvPr>
          <p:cNvSpPr/>
          <p:nvPr/>
        </p:nvSpPr>
        <p:spPr>
          <a:xfrm>
            <a:off x="3995560" y="4717889"/>
            <a:ext cx="1149674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Минск 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77668F-A7E1-4766-A874-37AFBC75C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0" y="148000"/>
            <a:ext cx="4535100" cy="93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1080400"/>
            <a:ext cx="8520600" cy="37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0000" algn="just">
              <a:buClr>
                <a:schemeClr val="dk1"/>
              </a:buClr>
              <a:buSzPct val="39285"/>
            </a:pP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дипломного проекта обусловлена тем, что в условиях стремительного роста объемов цифровой коммуникации и повсеместного распространения удаленного взаимодействия особую значимость приобретают современные платформы для обмена сообщениями. Современные веб-приложения, ориентированные на организацию групповой и личной переписки, позволяют автоматизировать ключевые процессы: аутентификацию пользователей, хранение и доставку сообщений, управление правами доступа и модерацию контента. Подобный функционал реализуется с помощью современных веб-технологий, где обработка данных распределяется между клиентской и серверной частью, а взаимодействие осуществляется через HTTP-протокол и </a:t>
            </a:r>
            <a:r>
              <a:rPr lang="ru-RU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-соединения, обеспечивая стабильную, отказоустойчивую и доступную работу платформы.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2A14DCF-121C-4729-9568-A36C75944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задачи</a:t>
            </a: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дипломного проекта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699" y="982869"/>
            <a:ext cx="8622327" cy="39442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450000">
              <a:lnSpc>
                <a:spcPct val="110000"/>
              </a:lnSpc>
              <a:buClr>
                <a:schemeClr val="dk1"/>
              </a:buClr>
              <a:buSzPts val="1100"/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дипломного проекта является разработка веб-приложения для видео-звонков – современной платформы для обмена сообщениями с поддержкой групповых чатов, системы друзей и ролевой модерации. </a:t>
            </a:r>
          </a:p>
          <a:p>
            <a:pPr marL="0" lvl="0" indent="450000">
              <a:lnSpc>
                <a:spcPct val="110000"/>
              </a:lnSpc>
              <a:buClr>
                <a:schemeClr val="dk1"/>
              </a:buClr>
              <a:buSzPts val="1100"/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450000">
              <a:lnSpc>
                <a:spcPct val="110000"/>
              </a:lnSpc>
              <a:buClr>
                <a:schemeClr val="dk1"/>
              </a:buClr>
              <a:buSzPts val="1100"/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цели были поставлены следующие задачи: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аналогичных решений для выявления их преимуществ и недостатков и провести патентный поиск;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приложение (разработать функциональные требования, архитектуру, структуру базы данных и пользовательский интерфейс), обеспечивающее поддержку всех заявленных функций;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клиентскую и серверную части с применением современных технологий;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/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тестирование функциональности приложения;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подготовить руководство пользователя;</a:t>
            </a:r>
          </a:p>
          <a:p>
            <a:pPr marL="0" lvl="0" indent="449263" algn="just">
              <a:lnSpc>
                <a:spcPct val="110000"/>
              </a:lnSpc>
              <a:buClr>
                <a:schemeClr val="dk1"/>
              </a:buClr>
              <a:buSzPct val="85000"/>
              <a:buNone/>
            </a:pPr>
            <a:r>
              <a:rPr lang="en-GB" dirty="0"/>
              <a:t>–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провести технико-экономическое обоснование проекта.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03E4EA-29FC-4186-9127-F08BDA6875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77117" y="2658168"/>
            <a:ext cx="2166029" cy="439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discord.com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0F4D12-C14A-4FBE-8761-058D63D63E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F25365A-BCDE-484C-99CE-33376D9DBC21}"/>
              </a:ext>
            </a:extLst>
          </p:cNvPr>
          <p:cNvSpPr/>
          <p:nvPr/>
        </p:nvSpPr>
        <p:spPr>
          <a:xfrm>
            <a:off x="1476165" y="2263973"/>
            <a:ext cx="18437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Веб-платформа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BF1F41E-18B7-41BF-A80C-59BF62BDCE73}"/>
              </a:ext>
            </a:extLst>
          </p:cNvPr>
          <p:cNvSpPr/>
          <p:nvPr/>
        </p:nvSpPr>
        <p:spPr>
          <a:xfrm>
            <a:off x="3147429" y="4554673"/>
            <a:ext cx="13083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«Google Meet»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4B8F9EF-5B20-4635-B1C9-3F4CEDE9485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5736" y="305669"/>
            <a:ext cx="4389826" cy="188570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1A9DFCA-EE08-4C6C-A888-F96CE00B921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53741" y="615186"/>
            <a:ext cx="3667417" cy="194915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02BEFBA-3F85-436B-AA1E-8DD240764D6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857001" y="2759411"/>
            <a:ext cx="3922395" cy="17614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128266" y="17334"/>
            <a:ext cx="888746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технологий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библиотек</a:t>
            </a: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средств разработки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6444001" y="776430"/>
            <a:ext cx="2455200" cy="3757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v22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v19.1.1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v3.4.19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 v5.1.0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 v15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Socket.IO v4.8.1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v3.0.2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MinIO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SDK v8.0.6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v7.0.6 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LiveKit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v2.19.1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E0DBD4-DB53-45FB-9B55-747CF68EB8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28AFDC-7AA8-4A31-A9CA-54277F150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6" y="1226831"/>
            <a:ext cx="3419442" cy="92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act original wordmark logo - free Icon PNG, SVG">
            <a:extLst>
              <a:ext uri="{FF2B5EF4-FFF2-40B4-BE49-F238E27FC236}">
                <a16:creationId xmlns:a16="http://schemas.microsoft.com/office/drawing/2014/main" id="{B24637E3-2D32-436A-9098-3F01FD97B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66" y="2293181"/>
            <a:ext cx="1854490" cy="185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A2944B4-7DA3-42B2-891B-130720CCC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657" y="2214323"/>
            <a:ext cx="2058629" cy="114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ostgresql plain wordmark logo - free Icon PNG, SVG">
            <a:extLst>
              <a:ext uri="{FF2B5EF4-FFF2-40B4-BE49-F238E27FC236}">
                <a16:creationId xmlns:a16="http://schemas.microsoft.com/office/drawing/2014/main" id="{435D5DF2-3A30-4721-B2F1-4660E523B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800" y="3249617"/>
            <a:ext cx="1610400" cy="16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D1378069-A573-4882-8EDD-BB9318F99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800" y="2712300"/>
            <a:ext cx="1610400" cy="16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проекта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AA01EE-BA6A-4901-8487-BB4E5FAFE24D}"/>
              </a:ext>
            </a:extLst>
          </p:cNvPr>
          <p:cNvSpPr/>
          <p:nvPr/>
        </p:nvSpPr>
        <p:spPr>
          <a:xfrm>
            <a:off x="199103" y="1017725"/>
            <a:ext cx="87900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000" algn="just"/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12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F7B5E88-91C3-4915-B727-8706AEE99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2DC33D-27F3-4AF3-9CD4-C93FDCD4E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77" y="1154612"/>
            <a:ext cx="8781714" cy="2834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311700" y="9843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с</a:t>
            </a: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хема базы данных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приложения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5AECEF2-D6EC-4395-B848-42EEB09DFC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76E9ED-66A4-4A61-83EF-90982D914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7083" y="649599"/>
            <a:ext cx="4915317" cy="44939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256950" y="61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 </a:t>
            </a: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79E24B6-F870-453E-98EB-E09B269842D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</p:spPr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FDDCAC-462A-4AAB-913A-A0C140D525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317" y="625668"/>
            <a:ext cx="5902483" cy="4431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title"/>
          </p:nvPr>
        </p:nvSpPr>
        <p:spPr>
          <a:xfrm>
            <a:off x="424344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проекта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B7EDE9F-5AE4-4EA2-8CAC-C8B6EEA89C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1">
            <a:hlinkClick r:id="" action="ppaction://media"/>
            <a:extLst>
              <a:ext uri="{FF2B5EF4-FFF2-40B4-BE49-F238E27FC236}">
                <a16:creationId xmlns:a16="http://schemas.microsoft.com/office/drawing/2014/main" id="{B82D5C55-5917-4C1B-80ED-F94581C619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600" y="652067"/>
            <a:ext cx="7480800" cy="420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Технико-э</a:t>
            </a: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кономическое обоснование цены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14D4D5-B1B0-4819-BEB2-710FC78397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759F4A7-54F3-4D96-ACA0-B0EC1C607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504768"/>
              </p:ext>
            </p:extLst>
          </p:nvPr>
        </p:nvGraphicFramePr>
        <p:xfrm>
          <a:off x="820800" y="567669"/>
          <a:ext cx="7236000" cy="4439579"/>
        </p:xfrm>
        <a:graphic>
          <a:graphicData uri="http://schemas.openxmlformats.org/drawingml/2006/table">
            <a:tbl>
              <a:tblPr firstRow="1" firstCol="1" bandRow="1">
                <a:tableStyleId>{7C71D854-79AC-4512-9384-8CA84CCBA3EA}</a:tableStyleId>
              </a:tblPr>
              <a:tblGrid>
                <a:gridCol w="4204800">
                  <a:extLst>
                    <a:ext uri="{9D8B030D-6E8A-4147-A177-3AD203B41FA5}">
                      <a16:colId xmlns:a16="http://schemas.microsoft.com/office/drawing/2014/main" val="3488029817"/>
                    </a:ext>
                  </a:extLst>
                </a:gridCol>
                <a:gridCol w="3031200">
                  <a:extLst>
                    <a:ext uri="{9D8B030D-6E8A-4147-A177-3AD203B41FA5}">
                      <a16:colId xmlns:a16="http://schemas.microsoft.com/office/drawing/2014/main" val="2465490699"/>
                    </a:ext>
                  </a:extLst>
                </a:gridCol>
              </a:tblGrid>
              <a:tr h="170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показателя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963099736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Трудоемкость разработки, рабочих дней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1850916927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Основная заработная плата,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685800" algn="l"/>
                          <a:tab pos="1036320" algn="ctr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8 028,57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547259263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Дополнительная заработная плата, руб.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1 204,29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847801295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Отчисления в ФСЗН и по обязательному страхованию,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3 194,57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2062630298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Материалы, специальное оборудование и платные услуги, руб.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55,20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1054913004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Прочие прямые затраты,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1 605,71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289930767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Общепроизводственные и общехозяйственные расходы, руб.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1 324,71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742295666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расходов на разработку ПС,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15 413,05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964194277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Расходы на сопровождение и адаптацию,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1 541,31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2202819308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Полная себестоимость ПС,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16 954,36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828665004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 аналога по deluxmedia.ru, руб.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26 526,50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715205654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 аналога по elapp.ru,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34 211,61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707319104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Стоимость аналога по wecode.io,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35 537,14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503607788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 рыночная цена аналогов,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32 091,75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 anchor="ctr"/>
                </a:tc>
                <a:extLst>
                  <a:ext uri="{0D108BD9-81ED-4DB2-BD59-A6C34878D82A}">
                    <a16:rowId xmlns:a16="http://schemas.microsoft.com/office/drawing/2014/main" val="3794628201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Принятая цена реализации с НДС, руб.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26 500,00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2907709879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Цена программного средства без НДС,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22 083,62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4281543971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Прибыль от реализации ПС,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5 129,26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1834976962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Рентабельность продукта, %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30,25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3597910377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Чистая прибыль,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4 103,41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2308783102"/>
                  </a:ext>
                </a:extLst>
              </a:tr>
              <a:tr h="42460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Способ монетизации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продажа веб-приложения с передачей прав заказчику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539428073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Отклонение принятой цены от средней рыночной цены,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5 591,75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1413773497"/>
                  </a:ext>
                </a:extLst>
              </a:tr>
              <a:tr h="17014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Экономический результат продажи после налога, руб.</a:t>
                      </a:r>
                      <a:endParaRPr lang="ru-RU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4 103,41</a:t>
                      </a:r>
                      <a:endParaRPr lang="ru-RU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130" marR="48130" marT="0" marB="0"/>
                </a:tc>
                <a:extLst>
                  <a:ext uri="{0D108BD9-81ED-4DB2-BD59-A6C34878D82A}">
                    <a16:rowId xmlns:a16="http://schemas.microsoft.com/office/drawing/2014/main" val="1787134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274700" y="2082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311700" y="866313"/>
            <a:ext cx="8520600" cy="38605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дипломного проектирования был проведен аналитический обзор литературы. 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Были спроектированы все основные части веб-приложения. 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Было в полной мере реализовано веб-приложение. </a:t>
            </a:r>
          </a:p>
          <a:p>
            <a:pPr mar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Протестирована работоспособность веб-приложения. 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сценарии работы с системой были описаны в руководстве по использованию.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Также проведено технико-экономическое обоснование проекта.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Результатом проделанной работы стало веб-приложение для видео-звонков.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Поставленная цель была выполнена в полном объеме, веб-приложение было разработано с учетом всех требований. 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дипломного проекта принял участие в 77 студенческой научно-технической конференции с докладом на тему "Веб-приложение для видео-звонков с адаптивным управлением качеством </a:t>
            </a:r>
            <a:r>
              <a:rPr lang="ru-RU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медиапотоков</a:t>
            </a: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автоматической генерацией субтитров".</a:t>
            </a:r>
          </a:p>
          <a:p>
            <a:pPr marL="0" lvl="0" indent="450000" algn="just">
              <a:lnSpc>
                <a:spcPct val="120000"/>
              </a:lnSpc>
              <a:buClr>
                <a:schemeClr val="dk1"/>
              </a:buClr>
              <a:buSzPct val="61111"/>
              <a:buNone/>
            </a:pP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 акт о внедрении результатов дипломного проектирования в ООО </a:t>
            </a:r>
            <a:r>
              <a:rPr lang="en-US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Фабрика инноваций и решений</a:t>
            </a:r>
            <a:r>
              <a:rPr lang="en-US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73605C1-3620-4548-B938-B49981724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84283" y="1779181"/>
            <a:ext cx="8520600" cy="150982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МИНИСТЕРСТВО ОБРАЗОВАНИЯ РЕСПУБЛИКИ БЕЛАРУСЬ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Учреждения образования «БЕЛОРУССКИЙ ГОСУДАРСТВЕННЫЙ 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ТЕХНОЛОГИЧЕСКИЙ УНИВЕРСИТЕТ»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Факультет информационных технологий</a:t>
            </a:r>
            <a:b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Кафедра информационных систем и технологий</a:t>
            </a: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br>
              <a:rPr lang="en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400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Тема дипломного проекта:</a:t>
            </a:r>
            <a:b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«</a:t>
            </a:r>
            <a:r>
              <a:rPr lang="ru-RU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Веб-приложение для видео-звонков</a:t>
            </a:r>
            <a:r>
              <a:rPr lang="en" sz="2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»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0" y="3709447"/>
            <a:ext cx="4542034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Дипломник:</a:t>
            </a:r>
            <a:r>
              <a:rPr lang="ru-RU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Шатерник Глеб Игоревич</a:t>
            </a:r>
            <a:r>
              <a:rPr lang="en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     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5;p13">
            <a:extLst>
              <a:ext uri="{FF2B5EF4-FFF2-40B4-BE49-F238E27FC236}">
                <a16:creationId xmlns:a16="http://schemas.microsoft.com/office/drawing/2014/main" id="{5CE184C4-0804-4FA6-9EB1-05CB3120F4D2}"/>
              </a:ext>
            </a:extLst>
          </p:cNvPr>
          <p:cNvSpPr txBox="1">
            <a:spLocks/>
          </p:cNvSpPr>
          <p:nvPr/>
        </p:nvSpPr>
        <p:spPr>
          <a:xfrm>
            <a:off x="-1" y="4141447"/>
            <a:ext cx="8712001" cy="57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Руководитель дипломного проекта: Подрез Алина Александровна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984897-0ED2-48D9-AE15-D8B201FA90BB}"/>
              </a:ext>
            </a:extLst>
          </p:cNvPr>
          <p:cNvSpPr/>
          <p:nvPr/>
        </p:nvSpPr>
        <p:spPr>
          <a:xfrm>
            <a:off x="3995560" y="4717889"/>
            <a:ext cx="1149674" cy="2862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2000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Минск 2026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77668F-A7E1-4766-A874-37AFBC75C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71179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706</Words>
  <Application>Microsoft Office PowerPoint</Application>
  <PresentationFormat>Экран (16:9)</PresentationFormat>
  <Paragraphs>117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Simple Light</vt:lpstr>
      <vt:lpstr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информационных систем и технологий   Тема дипломного проекта: «Веб-приложение для видео-звонков»</vt:lpstr>
      <vt:lpstr>Актуальность</vt:lpstr>
      <vt:lpstr>Цель и задачи дипломного проекта</vt:lpstr>
      <vt:lpstr>«discord.com»</vt:lpstr>
      <vt:lpstr>Выбор технологий, библиотек и средств разработки</vt:lpstr>
      <vt:lpstr>Архитектура проекта</vt:lpstr>
      <vt:lpstr>Логическая схема базы данных приложения</vt:lpstr>
      <vt:lpstr>Диаграмма вариантов использования приложения</vt:lpstr>
      <vt:lpstr>Демонстрация проекта</vt:lpstr>
      <vt:lpstr>Технико-экономическое обоснование цены</vt:lpstr>
      <vt:lpstr>Заключение</vt:lpstr>
      <vt:lpstr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информационных систем и технологий   Тема дипломного проекта: «Веб-приложение для видео-звонков»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РЕСПУБЛИКИ БЕЛАРУСЬ Учреждения образования «БЕЛОРУССКИЙ ГОСУДАРСТВЕННЫЙ  ТЕХНОЛОГИЧЕСКИЙ УНИВЕРСИТЕТ»  Факультет информационных технологий Кафедра информационных систем и технологий    Тема дипломного проекта: «Приложение для подбора фильма по предпочтениям»</dc:title>
  <dc:creator>Alina Malinina</dc:creator>
  <cp:lastModifiedBy>Глеб Шатерник</cp:lastModifiedBy>
  <cp:revision>99</cp:revision>
  <dcterms:modified xsi:type="dcterms:W3CDTF">2026-06-03T05:04:33Z</dcterms:modified>
</cp:coreProperties>
</file>